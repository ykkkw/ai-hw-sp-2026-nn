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2"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89"/>
    <p:restoredTop sz="81174"/>
  </p:normalViewPr>
  <p:slideViewPr>
    <p:cSldViewPr snapToGrid="0" snapToObjects="1">
      <p:cViewPr>
        <p:scale>
          <a:sx n="134" d="100"/>
          <a:sy n="134" d="100"/>
        </p:scale>
        <p:origin x="8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11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000000"/>
                </a:solidFill>
                <a:latin typeface="Inter Bold" pitchFamily="34" charset="0"/>
                <a:ea typeface="Inter Bold" pitchFamily="34" charset="-122"/>
                <a:cs typeface="Inter Bold" pitchFamily="34" charset="-120"/>
              </a:rPr>
              <a:t>DOM hourly electricity consumption</a:t>
            </a:r>
            <a:r>
              <a:rPr lang="en-US" sz="1000" b="0" dirty="0">
                <a:solidFill>
                  <a:srgbClr val="333333"/>
                </a:solidFill>
                <a:latin typeface="Inter" pitchFamily="34" charset="0"/>
                <a:ea typeface="Inter" pitchFamily="34" charset="-122"/>
                <a:cs typeface="Inter" pitchFamily="34" charset="-120"/>
              </a:rPr>
              <a:t> recorded from May 2005 to August 2018</a:t>
            </a:r>
            <a:endParaRPr lang="en-US" sz="1000" b="0"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414584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hyperlink" Target="https://pytorch.org/docs/stable/generated/torch.nn.LSTM.html" TargetMode="External"/><Relationship Id="rId3" Type="http://schemas.openxmlformats.org/officeDocument/2006/relationships/hyperlink" Target="https://github.com/ykkkw/ai-hw-sp-2026-nn/tree/main/MRP_energy_fcst" TargetMode="External"/><Relationship Id="rId7" Type="http://schemas.openxmlformats.org/officeDocument/2006/relationships/hyperlink" Target="https://pytorch.org/docs/stable/generated/torch.nn.RNN.html"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kaggle.com/code/avanwyk/encoding-cyclical-features-for-deep-learning" TargetMode="External"/><Relationship Id="rId11" Type="http://schemas.openxmlformats.org/officeDocument/2006/relationships/hyperlink" Target="https://scikit-learn.org/stable/modules/generated/sklearn.metrics.r2_score.html" TargetMode="External"/><Relationship Id="rId5" Type="http://schemas.openxmlformats.org/officeDocument/2006/relationships/hyperlink" Target="https://www.kaggle.com/datasets/robikscube/hourly-energy-consumption/data?select=DOM_hourly.csv" TargetMode="External"/><Relationship Id="rId10" Type="http://schemas.openxmlformats.org/officeDocument/2006/relationships/hyperlink" Target="https://scikit-learn.org/stable/modules/generated/sklearn.preprocessing.MinMaxScaler.html" TargetMode="External"/><Relationship Id="rId4" Type="http://schemas.openxmlformats.org/officeDocument/2006/relationships/hyperlink" Target="https://www.youtube.com/watch?v=ttesidRzbk0" TargetMode="External"/><Relationship Id="rId9" Type="http://schemas.openxmlformats.org/officeDocument/2006/relationships/hyperlink" Target="https://stackoverflow.com/questions/49573242/what-is-sequence-length-in-ls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1885950"/>
            <a:ext cx="8429625" cy="446917"/>
          </a:xfrm>
          <a:prstGeom prst="rect">
            <a:avLst/>
          </a:prstGeom>
          <a:noFill/>
          <a:ln/>
        </p:spPr>
        <p:txBody>
          <a:bodyPr wrap="square" lIns="0" tIns="0" rIns="0" bIns="0" rtlCol="0" anchor="t">
            <a:spAutoFit/>
          </a:bodyPr>
          <a:lstStyle/>
          <a:p>
            <a:pPr marL="0" indent="0" algn="l">
              <a:lnSpc>
                <a:spcPct val="88000"/>
              </a:lnSpc>
              <a:buNone/>
            </a:pPr>
            <a:r>
              <a:rPr lang="en-US" sz="3300" b="1" kern="0" spc="-1" dirty="0">
                <a:solidFill>
                  <a:srgbClr val="000000"/>
                </a:solidFill>
                <a:latin typeface="Inter Bold" pitchFamily="34" charset="0"/>
                <a:ea typeface="Inter Bold" pitchFamily="34" charset="-122"/>
                <a:cs typeface="Inter Bold" pitchFamily="34" charset="-120"/>
              </a:rPr>
              <a:t>Hourly Energy Forecasting</a:t>
            </a:r>
            <a:endParaRPr lang="en-US" sz="3300" dirty="0"/>
          </a:p>
        </p:txBody>
      </p:sp>
      <p:sp>
        <p:nvSpPr>
          <p:cNvPr id="4" name="Text 1"/>
          <p:cNvSpPr/>
          <p:nvPr/>
        </p:nvSpPr>
        <p:spPr>
          <a:xfrm>
            <a:off x="714375" y="2406955"/>
            <a:ext cx="2950369" cy="207169"/>
          </a:xfrm>
          <a:prstGeom prst="rect">
            <a:avLst/>
          </a:prstGeom>
          <a:noFill/>
          <a:ln/>
        </p:spPr>
        <p:txBody>
          <a:bodyPr wrap="square" lIns="0" tIns="0" rIns="0" bIns="0" rtlCol="0" anchor="t">
            <a:spAutoFit/>
          </a:bodyPr>
          <a:lstStyle/>
          <a:p>
            <a:pPr marL="0" indent="0" algn="l">
              <a:buNone/>
            </a:pPr>
            <a:r>
              <a:rPr lang="en-US" sz="1250" dirty="0">
                <a:solidFill>
                  <a:srgbClr val="666666"/>
                </a:solidFill>
                <a:latin typeface="Inter" pitchFamily="34" charset="0"/>
                <a:ea typeface="Inter" pitchFamily="34" charset="-122"/>
                <a:cs typeface="Inter" pitchFamily="34" charset="-120"/>
              </a:rPr>
              <a:t>RNN vs LSTM Performance Analysis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71500" y="529475"/>
            <a:ext cx="8572500" cy="31253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TL;DR: Motivation, Main Idea &amp; Results</a:t>
            </a:r>
            <a:endParaRPr lang="en-US" sz="1800" dirty="0"/>
          </a:p>
        </p:txBody>
      </p:sp>
      <p:sp>
        <p:nvSpPr>
          <p:cNvPr id="4" name="Text 1"/>
          <p:cNvSpPr/>
          <p:nvPr/>
        </p:nvSpPr>
        <p:spPr>
          <a:xfrm>
            <a:off x="457200" y="1306680"/>
            <a:ext cx="2428875" cy="155377"/>
          </a:xfrm>
          <a:prstGeom prst="rect">
            <a:avLst/>
          </a:prstGeom>
          <a:noFill/>
          <a:ln/>
        </p:spPr>
        <p:txBody>
          <a:bodyPr wrap="square" lIns="102108"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MOTIVATION</a:t>
            </a:r>
            <a:endParaRPr lang="en-US" sz="1000" dirty="0"/>
          </a:p>
        </p:txBody>
      </p:sp>
      <p:sp>
        <p:nvSpPr>
          <p:cNvPr id="5" name="Text 2"/>
          <p:cNvSpPr/>
          <p:nvPr/>
        </p:nvSpPr>
        <p:spPr>
          <a:xfrm>
            <a:off x="571500" y="1561747"/>
            <a:ext cx="2428875" cy="1834348"/>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333333"/>
                </a:solidFill>
                <a:latin typeface="Inter" pitchFamily="34" charset="0"/>
                <a:ea typeface="Inter" pitchFamily="34" charset="-122"/>
                <a:cs typeface="Inter" pitchFamily="34" charset="-120"/>
              </a:rPr>
              <a:t>Demand forecasting is critical for many use cases. Classical methods (ARIMA or Linear regressing) are interpretable but struggle with </a:t>
            </a:r>
            <a:r>
              <a:rPr lang="en-US" sz="1000" b="1" dirty="0">
                <a:solidFill>
                  <a:srgbClr val="000000"/>
                </a:solidFill>
                <a:latin typeface="Inter Bold" pitchFamily="34" charset="0"/>
                <a:ea typeface="Inter Bold" pitchFamily="34" charset="-122"/>
                <a:cs typeface="Inter Bold" pitchFamily="34" charset="-120"/>
              </a:rPr>
              <a:t>complex temporal patterns</a:t>
            </a:r>
            <a:r>
              <a:rPr lang="en-US" sz="1000" dirty="0">
                <a:solidFill>
                  <a:srgbClr val="333333"/>
                </a:solidFill>
                <a:latin typeface="Inter" pitchFamily="34" charset="0"/>
                <a:ea typeface="Inter" pitchFamily="34" charset="-122"/>
                <a:cs typeface="Inter" pitchFamily="34" charset="-120"/>
              </a:rPr>
              <a:t> and rely on manual features and has lots of assumptions.</a:t>
            </a:r>
          </a:p>
          <a:p>
            <a:pPr marL="0" indent="0" algn="l">
              <a:lnSpc>
                <a:spcPct val="120000"/>
              </a:lnSpc>
              <a:buNone/>
            </a:pPr>
            <a:endParaRPr lang="en-US" sz="1000" dirty="0">
              <a:solidFill>
                <a:srgbClr val="333333"/>
              </a:solidFill>
              <a:latin typeface="Inter" pitchFamily="34" charset="0"/>
              <a:ea typeface="Inter" pitchFamily="34" charset="-122"/>
            </a:endParaRPr>
          </a:p>
          <a:p>
            <a:pPr>
              <a:lnSpc>
                <a:spcPct val="120000"/>
              </a:lnSpc>
            </a:pPr>
            <a:r>
              <a:rPr lang="en-US" sz="1000" dirty="0">
                <a:solidFill>
                  <a:srgbClr val="333333"/>
                </a:solidFill>
                <a:latin typeface="Inter" pitchFamily="34" charset="0"/>
                <a:ea typeface="Inter" pitchFamily="34" charset="-122"/>
                <a:cs typeface="Inter" pitchFamily="34" charset="-120"/>
              </a:rPr>
              <a:t>This project explores if </a:t>
            </a:r>
            <a:r>
              <a:rPr lang="en-US" sz="1000" b="1" dirty="0">
                <a:solidFill>
                  <a:srgbClr val="000000"/>
                </a:solidFill>
                <a:latin typeface="Inter Bold" pitchFamily="34" charset="0"/>
                <a:ea typeface="Inter Bold" pitchFamily="34" charset="-122"/>
                <a:cs typeface="Inter Bold" pitchFamily="34" charset="-120"/>
              </a:rPr>
              <a:t>Deep Learning</a:t>
            </a:r>
            <a:r>
              <a:rPr lang="en-US" sz="1000" dirty="0">
                <a:solidFill>
                  <a:srgbClr val="333333"/>
                </a:solidFill>
                <a:latin typeface="Inter" pitchFamily="34" charset="0"/>
                <a:ea typeface="Inter" pitchFamily="34" charset="-122"/>
                <a:cs typeface="Inter" pitchFamily="34" charset="-120"/>
              </a:rPr>
              <a:t> can automatically capture these patterns and generate better forecast.</a:t>
            </a:r>
            <a:endParaRPr lang="en-US" sz="1000" dirty="0"/>
          </a:p>
          <a:p>
            <a:pPr marL="0" indent="0" algn="l">
              <a:lnSpc>
                <a:spcPct val="120000"/>
              </a:lnSpc>
              <a:buNone/>
            </a:pPr>
            <a:endParaRPr lang="en-US" sz="1000" dirty="0"/>
          </a:p>
        </p:txBody>
      </p:sp>
      <p:sp>
        <p:nvSpPr>
          <p:cNvPr id="6" name="Text 3"/>
          <p:cNvSpPr/>
          <p:nvPr/>
        </p:nvSpPr>
        <p:spPr>
          <a:xfrm>
            <a:off x="571500" y="2472575"/>
            <a:ext cx="2428875" cy="137923"/>
          </a:xfrm>
          <a:prstGeom prst="rect">
            <a:avLst/>
          </a:prstGeom>
          <a:noFill/>
          <a:ln/>
        </p:spPr>
        <p:txBody>
          <a:bodyPr wrap="square" lIns="0" tIns="0" rIns="0" bIns="0" rtlCol="0" anchor="t">
            <a:spAutoFit/>
          </a:bodyPr>
          <a:lstStyle/>
          <a:p>
            <a:pPr marL="0" indent="0" algn="l">
              <a:lnSpc>
                <a:spcPct val="120000"/>
              </a:lnSpc>
              <a:buNone/>
            </a:pPr>
            <a:endParaRPr lang="en-US" sz="800" dirty="0"/>
          </a:p>
        </p:txBody>
      </p:sp>
      <p:sp>
        <p:nvSpPr>
          <p:cNvPr id="7" name="Text 4"/>
          <p:cNvSpPr/>
          <p:nvPr/>
        </p:nvSpPr>
        <p:spPr>
          <a:xfrm>
            <a:off x="3224213" y="1299214"/>
            <a:ext cx="2428875" cy="155377"/>
          </a:xfrm>
          <a:prstGeom prst="rect">
            <a:avLst/>
          </a:prstGeom>
          <a:noFill/>
          <a:ln/>
        </p:spPr>
        <p:txBody>
          <a:bodyPr wrap="square" lIns="102108"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MAIN IDEA</a:t>
            </a:r>
            <a:endParaRPr lang="en-US" sz="1000" dirty="0"/>
          </a:p>
        </p:txBody>
      </p:sp>
      <p:sp>
        <p:nvSpPr>
          <p:cNvPr id="8" name="Text 5"/>
          <p:cNvSpPr/>
          <p:nvPr/>
        </p:nvSpPr>
        <p:spPr>
          <a:xfrm>
            <a:off x="3357563" y="1561747"/>
            <a:ext cx="2428875" cy="2388346"/>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333333"/>
                </a:solidFill>
                <a:latin typeface="Inter" pitchFamily="34" charset="0"/>
                <a:ea typeface="Inter" pitchFamily="34" charset="-122"/>
                <a:cs typeface="Inter" pitchFamily="34" charset="-120"/>
              </a:rPr>
              <a:t>We compare 4 configurations of </a:t>
            </a:r>
            <a:r>
              <a:rPr lang="en-US" sz="1000" b="1" dirty="0">
                <a:solidFill>
                  <a:srgbClr val="000000"/>
                </a:solidFill>
                <a:latin typeface="Inter Bold" pitchFamily="34" charset="0"/>
                <a:ea typeface="Inter Bold" pitchFamily="34" charset="-122"/>
                <a:cs typeface="Inter Bold" pitchFamily="34" charset="-120"/>
              </a:rPr>
              <a:t>Simple RNN</a:t>
            </a:r>
            <a:r>
              <a:rPr lang="en-US" sz="1000" dirty="0">
                <a:solidFill>
                  <a:srgbClr val="333333"/>
                </a:solidFill>
                <a:latin typeface="Inter" pitchFamily="34" charset="0"/>
                <a:ea typeface="Inter" pitchFamily="34" charset="-122"/>
                <a:cs typeface="Inter" pitchFamily="34" charset="-120"/>
              </a:rPr>
              <a:t> and </a:t>
            </a:r>
            <a:r>
              <a:rPr lang="en-US" sz="1000" b="1" dirty="0">
                <a:solidFill>
                  <a:srgbClr val="000000"/>
                </a:solidFill>
                <a:latin typeface="Inter Bold" pitchFamily="34" charset="0"/>
                <a:ea typeface="Inter Bold" pitchFamily="34" charset="-122"/>
                <a:cs typeface="Inter Bold" pitchFamily="34" charset="-120"/>
              </a:rPr>
              <a:t>LSTM</a:t>
            </a:r>
            <a:r>
              <a:rPr lang="en-US" sz="1000" dirty="0">
                <a:solidFill>
                  <a:srgbClr val="333333"/>
                </a:solidFill>
                <a:latin typeface="Inter" pitchFamily="34" charset="0"/>
                <a:ea typeface="Inter" pitchFamily="34" charset="-122"/>
                <a:cs typeface="Inter" pitchFamily="34" charset="-120"/>
              </a:rPr>
              <a:t> architectures built in PyTorch using the DOM energy dataset from Kaggle.</a:t>
            </a:r>
          </a:p>
          <a:p>
            <a:pPr marL="0" indent="0" algn="l">
              <a:lnSpc>
                <a:spcPct val="120000"/>
              </a:lnSpc>
              <a:buNone/>
            </a:pPr>
            <a:endParaRPr lang="en-US" sz="1000" dirty="0">
              <a:solidFill>
                <a:srgbClr val="333333"/>
              </a:solidFill>
              <a:latin typeface="Inter" pitchFamily="34" charset="0"/>
              <a:ea typeface="Inter" pitchFamily="34" charset="-122"/>
              <a:cs typeface="Inter" pitchFamily="34" charset="-120"/>
            </a:endParaRPr>
          </a:p>
          <a:p>
            <a:pPr>
              <a:lnSpc>
                <a:spcPct val="120000"/>
              </a:lnSpc>
            </a:pPr>
            <a:r>
              <a:rPr lang="en-US" sz="1000" dirty="0"/>
              <a:t>Model are RNN and LSTM, baseline and enhanced version with cyclical time embeddings.</a:t>
            </a:r>
          </a:p>
          <a:p>
            <a:pPr>
              <a:lnSpc>
                <a:spcPct val="120000"/>
              </a:lnSpc>
            </a:pPr>
            <a:endParaRPr lang="en-US" sz="1000" dirty="0"/>
          </a:p>
          <a:p>
            <a:pPr>
              <a:lnSpc>
                <a:spcPct val="120000"/>
              </a:lnSpc>
            </a:pPr>
            <a:r>
              <a:rPr lang="en-US" sz="1000" dirty="0"/>
              <a:t>The task is one-step-ahead hourly forecasting: given the last 24 hours, predict the next hour's MW demand.</a:t>
            </a:r>
            <a:endParaRPr lang="en-US" sz="1000" dirty="0">
              <a:solidFill>
                <a:srgbClr val="333333"/>
              </a:solidFill>
              <a:latin typeface="Inter" pitchFamily="34" charset="0"/>
              <a:ea typeface="Inter" pitchFamily="34" charset="-122"/>
              <a:cs typeface="Inter" pitchFamily="34" charset="-120"/>
            </a:endParaRPr>
          </a:p>
          <a:p>
            <a:pPr marL="0" indent="0" algn="l">
              <a:lnSpc>
                <a:spcPct val="120000"/>
              </a:lnSpc>
              <a:buNone/>
            </a:pPr>
            <a:endParaRPr lang="en-US" sz="1000" dirty="0">
              <a:solidFill>
                <a:srgbClr val="333333"/>
              </a:solidFill>
              <a:latin typeface="Inter" pitchFamily="34" charset="0"/>
              <a:ea typeface="Inter" pitchFamily="34" charset="-122"/>
            </a:endParaRPr>
          </a:p>
          <a:p>
            <a:pPr marL="0" indent="0" algn="l">
              <a:lnSpc>
                <a:spcPct val="120000"/>
              </a:lnSpc>
              <a:buNone/>
            </a:pPr>
            <a:endParaRPr lang="en-US" sz="1000" dirty="0"/>
          </a:p>
        </p:txBody>
      </p:sp>
      <p:sp>
        <p:nvSpPr>
          <p:cNvPr id="10" name="Text 7"/>
          <p:cNvSpPr/>
          <p:nvPr/>
        </p:nvSpPr>
        <p:spPr>
          <a:xfrm>
            <a:off x="6067497" y="1299214"/>
            <a:ext cx="2428875" cy="155377"/>
          </a:xfrm>
          <a:prstGeom prst="rect">
            <a:avLst/>
          </a:prstGeom>
          <a:noFill/>
          <a:ln/>
        </p:spPr>
        <p:txBody>
          <a:bodyPr wrap="square" lIns="102108"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RESULTS</a:t>
            </a:r>
            <a:endParaRPr lang="en-US" sz="1000" dirty="0"/>
          </a:p>
        </p:txBody>
      </p:sp>
      <p:sp>
        <p:nvSpPr>
          <p:cNvPr id="11" name="Text 8"/>
          <p:cNvSpPr/>
          <p:nvPr/>
        </p:nvSpPr>
        <p:spPr>
          <a:xfrm>
            <a:off x="6143625" y="1532033"/>
            <a:ext cx="432170" cy="239809"/>
          </a:xfrm>
          <a:prstGeom prst="rect">
            <a:avLst/>
          </a:prstGeom>
          <a:noFill/>
          <a:ln/>
        </p:spPr>
        <p:txBody>
          <a:bodyPr wrap="none" lIns="42545" tIns="42545" rIns="42545" bIns="42545" rtlCol="0" anchor="ctr">
            <a:spAutoFit/>
          </a:bodyPr>
          <a:lstStyle/>
          <a:p>
            <a:pPr marL="0" indent="0" algn="l">
              <a:buNone/>
            </a:pPr>
            <a:r>
              <a:rPr lang="en-US" sz="1000" b="1" dirty="0">
                <a:solidFill>
                  <a:srgbClr val="333333"/>
                </a:solidFill>
                <a:latin typeface="Inter Bold" pitchFamily="34" charset="0"/>
                <a:ea typeface="Inter Bold" pitchFamily="34" charset="-122"/>
                <a:cs typeface="Inter Bold" pitchFamily="34" charset="-120"/>
              </a:rPr>
              <a:t>Model</a:t>
            </a:r>
            <a:endParaRPr lang="en-US" sz="1000" dirty="0"/>
          </a:p>
        </p:txBody>
      </p:sp>
      <p:sp>
        <p:nvSpPr>
          <p:cNvPr id="12" name="Text 9"/>
          <p:cNvSpPr/>
          <p:nvPr/>
        </p:nvSpPr>
        <p:spPr>
          <a:xfrm>
            <a:off x="7014437" y="1532033"/>
            <a:ext cx="393698" cy="239809"/>
          </a:xfrm>
          <a:prstGeom prst="rect">
            <a:avLst/>
          </a:prstGeom>
          <a:noFill/>
          <a:ln/>
        </p:spPr>
        <p:txBody>
          <a:bodyPr wrap="none" lIns="42545" tIns="42545" rIns="42545" bIns="42545" rtlCol="0" anchor="ctr">
            <a:spAutoFit/>
          </a:bodyPr>
          <a:lstStyle/>
          <a:p>
            <a:pPr marL="0" indent="0" algn="l">
              <a:buNone/>
            </a:pPr>
            <a:r>
              <a:rPr lang="en-US" sz="1000" b="1" dirty="0">
                <a:solidFill>
                  <a:srgbClr val="333333"/>
                </a:solidFill>
                <a:latin typeface="Inter Bold" pitchFamily="34" charset="0"/>
                <a:ea typeface="Inter Bold" pitchFamily="34" charset="-122"/>
                <a:cs typeface="Inter Bold" pitchFamily="34" charset="-120"/>
              </a:rPr>
              <a:t>RMSE</a:t>
            </a:r>
            <a:endParaRPr lang="en-US" sz="1000" dirty="0"/>
          </a:p>
        </p:txBody>
      </p:sp>
      <p:sp>
        <p:nvSpPr>
          <p:cNvPr id="13" name="Text 10"/>
          <p:cNvSpPr/>
          <p:nvPr/>
        </p:nvSpPr>
        <p:spPr>
          <a:xfrm>
            <a:off x="7539028" y="1532033"/>
            <a:ext cx="201337" cy="239809"/>
          </a:xfrm>
          <a:prstGeom prst="rect">
            <a:avLst/>
          </a:prstGeom>
          <a:noFill/>
          <a:ln/>
        </p:spPr>
        <p:txBody>
          <a:bodyPr wrap="none" lIns="42545" tIns="42545" rIns="42545" bIns="42545" rtlCol="0" anchor="ctr">
            <a:spAutoFit/>
          </a:bodyPr>
          <a:lstStyle/>
          <a:p>
            <a:pPr marL="0" indent="0" algn="l">
              <a:buNone/>
            </a:pPr>
            <a:r>
              <a:rPr lang="en-US" sz="1000" b="1" dirty="0">
                <a:solidFill>
                  <a:srgbClr val="333333"/>
                </a:solidFill>
                <a:latin typeface="Inter Bold" pitchFamily="34" charset="0"/>
                <a:ea typeface="Inter Bold" pitchFamily="34" charset="-122"/>
                <a:cs typeface="Inter Bold" pitchFamily="34" charset="-120"/>
              </a:rPr>
              <a:t>R²</a:t>
            </a:r>
            <a:endParaRPr lang="en-US" sz="1000" dirty="0"/>
          </a:p>
        </p:txBody>
      </p:sp>
      <p:sp>
        <p:nvSpPr>
          <p:cNvPr id="14" name="Text 11"/>
          <p:cNvSpPr/>
          <p:nvPr/>
        </p:nvSpPr>
        <p:spPr>
          <a:xfrm>
            <a:off x="8089850" y="1532033"/>
            <a:ext cx="406522" cy="239809"/>
          </a:xfrm>
          <a:prstGeom prst="rect">
            <a:avLst/>
          </a:prstGeom>
          <a:noFill/>
          <a:ln/>
        </p:spPr>
        <p:txBody>
          <a:bodyPr wrap="none" lIns="42545" tIns="42545" rIns="42545" bIns="42545" rtlCol="0" anchor="ctr">
            <a:spAutoFit/>
          </a:bodyPr>
          <a:lstStyle/>
          <a:p>
            <a:pPr marL="0" indent="0" algn="l">
              <a:buNone/>
            </a:pPr>
            <a:r>
              <a:rPr lang="en-US" sz="1000" b="1" dirty="0">
                <a:solidFill>
                  <a:srgbClr val="333333"/>
                </a:solidFill>
                <a:latin typeface="Inter Bold" pitchFamily="34" charset="0"/>
                <a:ea typeface="Inter Bold" pitchFamily="34" charset="-122"/>
                <a:cs typeface="Inter Bold" pitchFamily="34" charset="-120"/>
              </a:rPr>
              <a:t>MAPE</a:t>
            </a:r>
            <a:endParaRPr lang="en-US" sz="1000" dirty="0"/>
          </a:p>
        </p:txBody>
      </p:sp>
      <p:sp>
        <p:nvSpPr>
          <p:cNvPr id="15" name="Text 12"/>
          <p:cNvSpPr/>
          <p:nvPr/>
        </p:nvSpPr>
        <p:spPr>
          <a:xfrm>
            <a:off x="6143625" y="1714198"/>
            <a:ext cx="595676"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RNN Base</a:t>
            </a:r>
            <a:endParaRPr lang="en-US" sz="1000" dirty="0"/>
          </a:p>
        </p:txBody>
      </p:sp>
      <p:sp>
        <p:nvSpPr>
          <p:cNvPr id="16" name="Text 13"/>
          <p:cNvSpPr/>
          <p:nvPr/>
        </p:nvSpPr>
        <p:spPr>
          <a:xfrm>
            <a:off x="7014437" y="1714198"/>
            <a:ext cx="446597"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215.46</a:t>
            </a:r>
            <a:endParaRPr lang="en-US" sz="1000" dirty="0"/>
          </a:p>
        </p:txBody>
      </p:sp>
      <p:sp>
        <p:nvSpPr>
          <p:cNvPr id="17" name="Text 14"/>
          <p:cNvSpPr/>
          <p:nvPr/>
        </p:nvSpPr>
        <p:spPr>
          <a:xfrm>
            <a:off x="7539028" y="1714198"/>
            <a:ext cx="380873"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0.992</a:t>
            </a:r>
            <a:endParaRPr lang="en-US" sz="1000" dirty="0"/>
          </a:p>
        </p:txBody>
      </p:sp>
      <p:sp>
        <p:nvSpPr>
          <p:cNvPr id="18" name="Text 15"/>
          <p:cNvSpPr/>
          <p:nvPr/>
        </p:nvSpPr>
        <p:spPr>
          <a:xfrm>
            <a:off x="8089850" y="1714198"/>
            <a:ext cx="406522"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1.44%</a:t>
            </a:r>
            <a:endParaRPr lang="en-US" sz="1000" dirty="0"/>
          </a:p>
        </p:txBody>
      </p:sp>
      <p:sp>
        <p:nvSpPr>
          <p:cNvPr id="19" name="Text 16"/>
          <p:cNvSpPr/>
          <p:nvPr/>
        </p:nvSpPr>
        <p:spPr>
          <a:xfrm>
            <a:off x="6143625" y="1898150"/>
            <a:ext cx="645369"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LSTM Base</a:t>
            </a:r>
            <a:endParaRPr lang="en-US" sz="1000" dirty="0"/>
          </a:p>
        </p:txBody>
      </p:sp>
      <p:sp>
        <p:nvSpPr>
          <p:cNvPr id="20" name="Text 17"/>
          <p:cNvSpPr/>
          <p:nvPr/>
        </p:nvSpPr>
        <p:spPr>
          <a:xfrm>
            <a:off x="7014437" y="1898150"/>
            <a:ext cx="446597"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219.30</a:t>
            </a:r>
            <a:endParaRPr lang="en-US" sz="1000" dirty="0"/>
          </a:p>
        </p:txBody>
      </p:sp>
      <p:sp>
        <p:nvSpPr>
          <p:cNvPr id="21" name="Text 18"/>
          <p:cNvSpPr/>
          <p:nvPr/>
        </p:nvSpPr>
        <p:spPr>
          <a:xfrm>
            <a:off x="7539028" y="1898150"/>
            <a:ext cx="380873"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0.991</a:t>
            </a:r>
            <a:endParaRPr lang="en-US" sz="1000" dirty="0"/>
          </a:p>
        </p:txBody>
      </p:sp>
      <p:sp>
        <p:nvSpPr>
          <p:cNvPr id="22" name="Text 19"/>
          <p:cNvSpPr/>
          <p:nvPr/>
        </p:nvSpPr>
        <p:spPr>
          <a:xfrm>
            <a:off x="8089850" y="1898150"/>
            <a:ext cx="406522"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1.44%</a:t>
            </a:r>
            <a:endParaRPr lang="en-US" sz="1000" dirty="0"/>
          </a:p>
        </p:txBody>
      </p:sp>
      <p:sp>
        <p:nvSpPr>
          <p:cNvPr id="23" name="Text 20"/>
          <p:cNvSpPr/>
          <p:nvPr/>
        </p:nvSpPr>
        <p:spPr>
          <a:xfrm>
            <a:off x="6143625" y="2082101"/>
            <a:ext cx="671018"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RNN + Feat</a:t>
            </a:r>
            <a:endParaRPr lang="en-US" sz="1000" dirty="0"/>
          </a:p>
        </p:txBody>
      </p:sp>
      <p:sp>
        <p:nvSpPr>
          <p:cNvPr id="24" name="Text 21"/>
          <p:cNvSpPr/>
          <p:nvPr/>
        </p:nvSpPr>
        <p:spPr>
          <a:xfrm>
            <a:off x="7014437" y="2082101"/>
            <a:ext cx="446597"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204.17</a:t>
            </a:r>
            <a:endParaRPr lang="en-US" sz="1000" dirty="0"/>
          </a:p>
        </p:txBody>
      </p:sp>
      <p:sp>
        <p:nvSpPr>
          <p:cNvPr id="25" name="Text 22"/>
          <p:cNvSpPr/>
          <p:nvPr/>
        </p:nvSpPr>
        <p:spPr>
          <a:xfrm>
            <a:off x="7539028" y="2082101"/>
            <a:ext cx="380873"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0.993</a:t>
            </a:r>
            <a:endParaRPr lang="en-US" sz="1000" dirty="0"/>
          </a:p>
        </p:txBody>
      </p:sp>
      <p:sp>
        <p:nvSpPr>
          <p:cNvPr id="26" name="Text 23"/>
          <p:cNvSpPr/>
          <p:nvPr/>
        </p:nvSpPr>
        <p:spPr>
          <a:xfrm>
            <a:off x="8089850" y="2082101"/>
            <a:ext cx="406522" cy="239809"/>
          </a:xfrm>
          <a:prstGeom prst="rect">
            <a:avLst/>
          </a:prstGeom>
          <a:noFill/>
          <a:ln/>
        </p:spPr>
        <p:txBody>
          <a:bodyPr wrap="none" lIns="42545" tIns="42545" rIns="42545" bIns="42545"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1.37%</a:t>
            </a:r>
            <a:endParaRPr lang="en-US" sz="1000" dirty="0"/>
          </a:p>
        </p:txBody>
      </p:sp>
      <p:sp>
        <p:nvSpPr>
          <p:cNvPr id="27" name="Text 24"/>
          <p:cNvSpPr/>
          <p:nvPr/>
        </p:nvSpPr>
        <p:spPr>
          <a:xfrm>
            <a:off x="6143625" y="2266053"/>
            <a:ext cx="730328" cy="239809"/>
          </a:xfrm>
          <a:prstGeom prst="rect">
            <a:avLst/>
          </a:prstGeom>
          <a:noFill/>
          <a:ln/>
        </p:spPr>
        <p:txBody>
          <a:bodyPr wrap="none" lIns="42545" tIns="42545" rIns="42545" bIns="42545"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LSTM + Feat</a:t>
            </a:r>
            <a:endParaRPr lang="en-US" sz="1000" dirty="0"/>
          </a:p>
        </p:txBody>
      </p:sp>
      <p:sp>
        <p:nvSpPr>
          <p:cNvPr id="28" name="Text 25"/>
          <p:cNvSpPr/>
          <p:nvPr/>
        </p:nvSpPr>
        <p:spPr>
          <a:xfrm>
            <a:off x="7014437" y="2266053"/>
            <a:ext cx="448200" cy="239809"/>
          </a:xfrm>
          <a:prstGeom prst="rect">
            <a:avLst/>
          </a:prstGeom>
          <a:noFill/>
          <a:ln/>
        </p:spPr>
        <p:txBody>
          <a:bodyPr wrap="none" lIns="42545" tIns="42545" rIns="42545" bIns="42545"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160.86</a:t>
            </a:r>
            <a:endParaRPr lang="en-US" sz="1000" dirty="0"/>
          </a:p>
        </p:txBody>
      </p:sp>
      <p:sp>
        <p:nvSpPr>
          <p:cNvPr id="29" name="Text 26"/>
          <p:cNvSpPr/>
          <p:nvPr/>
        </p:nvSpPr>
        <p:spPr>
          <a:xfrm>
            <a:off x="7539028" y="2266053"/>
            <a:ext cx="382477" cy="239809"/>
          </a:xfrm>
          <a:prstGeom prst="rect">
            <a:avLst/>
          </a:prstGeom>
          <a:noFill/>
          <a:ln/>
        </p:spPr>
        <p:txBody>
          <a:bodyPr wrap="none" lIns="42545" tIns="42545" rIns="42545" bIns="42545"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0.995</a:t>
            </a:r>
            <a:endParaRPr lang="en-US" sz="1000" dirty="0"/>
          </a:p>
        </p:txBody>
      </p:sp>
      <p:sp>
        <p:nvSpPr>
          <p:cNvPr id="30" name="Text 27"/>
          <p:cNvSpPr/>
          <p:nvPr/>
        </p:nvSpPr>
        <p:spPr>
          <a:xfrm>
            <a:off x="8089850" y="2266053"/>
            <a:ext cx="409728" cy="239809"/>
          </a:xfrm>
          <a:prstGeom prst="rect">
            <a:avLst/>
          </a:prstGeom>
          <a:noFill/>
          <a:ln/>
        </p:spPr>
        <p:txBody>
          <a:bodyPr wrap="none" lIns="42545" tIns="42545" rIns="42545" bIns="42545"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1.07%</a:t>
            </a:r>
            <a:endParaRPr lang="en-US" sz="1000" dirty="0"/>
          </a:p>
        </p:txBody>
      </p:sp>
      <p:sp>
        <p:nvSpPr>
          <p:cNvPr id="33" name="Text 30"/>
          <p:cNvSpPr/>
          <p:nvPr/>
        </p:nvSpPr>
        <p:spPr>
          <a:xfrm>
            <a:off x="571500" y="3950093"/>
            <a:ext cx="8001000" cy="574388"/>
          </a:xfrm>
          <a:prstGeom prst="rect">
            <a:avLst/>
          </a:prstGeom>
          <a:noFill/>
          <a:ln/>
        </p:spPr>
        <p:txBody>
          <a:bodyPr wrap="square" lIns="0" tIns="170053" rIns="0" bIns="0" rtlCol="0" anchor="t">
            <a:spAutoFit/>
          </a:bodyPr>
          <a:lstStyle/>
          <a:p>
            <a:pPr marL="0" indent="0" algn="l">
              <a:lnSpc>
                <a:spcPct val="112000"/>
              </a:lnSpc>
              <a:buNone/>
            </a:pPr>
            <a:r>
              <a:rPr lang="en-US" sz="1200" b="1" dirty="0">
                <a:solidFill>
                  <a:srgbClr val="333333"/>
                </a:solidFill>
                <a:latin typeface="Inter Bold" pitchFamily="34" charset="0"/>
                <a:ea typeface="Inter Bold" pitchFamily="34" charset="-122"/>
                <a:cs typeface="Inter Bold" pitchFamily="34" charset="-120"/>
              </a:rPr>
              <a:t>Conclusion:</a:t>
            </a:r>
            <a:r>
              <a:rPr lang="en-US" sz="1200" dirty="0">
                <a:solidFill>
                  <a:srgbClr val="333333"/>
                </a:solidFill>
                <a:latin typeface="Inter" pitchFamily="34" charset="0"/>
                <a:ea typeface="Inter" pitchFamily="34" charset="-122"/>
                <a:cs typeface="Inter" pitchFamily="34" charset="-120"/>
              </a:rPr>
              <a:t> </a:t>
            </a:r>
            <a:r>
              <a:rPr lang="en-US" sz="1200" b="1" dirty="0">
                <a:solidFill>
                  <a:srgbClr val="0055FF"/>
                </a:solidFill>
                <a:latin typeface="Inter Bold" pitchFamily="34" charset="0"/>
                <a:ea typeface="Inter Bold" pitchFamily="34" charset="-122"/>
                <a:cs typeface="Inter Bold" pitchFamily="34" charset="-120"/>
              </a:rPr>
              <a:t>LSTM with cyclical features</a:t>
            </a:r>
            <a:r>
              <a:rPr lang="en-US" sz="1200" dirty="0">
                <a:solidFill>
                  <a:srgbClr val="333333"/>
                </a:solidFill>
                <a:latin typeface="Inter" pitchFamily="34" charset="0"/>
                <a:ea typeface="Inter" pitchFamily="34" charset="-122"/>
                <a:cs typeface="Inter" pitchFamily="34" charset="-120"/>
              </a:rPr>
              <a:t> is the clear winner, delivering a </a:t>
            </a:r>
            <a:r>
              <a:rPr lang="en-US" sz="1200" b="1" dirty="0">
                <a:solidFill>
                  <a:srgbClr val="333333"/>
                </a:solidFill>
                <a:latin typeface="Inter Bold" pitchFamily="34" charset="0"/>
                <a:ea typeface="Inter Bold" pitchFamily="34" charset="-122"/>
                <a:cs typeface="Inter Bold" pitchFamily="34" charset="-120"/>
              </a:rPr>
              <a:t>25% RMSE reduction</a:t>
            </a:r>
            <a:r>
              <a:rPr lang="en-US" sz="1200" dirty="0">
                <a:solidFill>
                  <a:srgbClr val="333333"/>
                </a:solidFill>
                <a:latin typeface="Inter" pitchFamily="34" charset="0"/>
                <a:ea typeface="Inter" pitchFamily="34" charset="-122"/>
                <a:cs typeface="Inter" pitchFamily="34" charset="-120"/>
              </a:rPr>
              <a:t> over the baseline. The combination of architecture and feature engineering provides the largest gain.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571500" y="529475"/>
            <a:ext cx="8572500" cy="31253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Literature Review on Related Methods</a:t>
            </a:r>
            <a:endParaRPr lang="en-US" sz="1800" dirty="0"/>
          </a:p>
        </p:txBody>
      </p:sp>
      <p:sp>
        <p:nvSpPr>
          <p:cNvPr id="7" name="Text 4"/>
          <p:cNvSpPr/>
          <p:nvPr/>
        </p:nvSpPr>
        <p:spPr>
          <a:xfrm>
            <a:off x="571500" y="1172214"/>
            <a:ext cx="2428875" cy="155377"/>
          </a:xfrm>
          <a:prstGeom prst="rect">
            <a:avLst/>
          </a:prstGeom>
          <a:noFill/>
          <a:ln/>
        </p:spPr>
        <p:txBody>
          <a:bodyPr wrap="square" lIns="102108"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SIMPLE RNN</a:t>
            </a:r>
            <a:endParaRPr lang="en-US" sz="1000" dirty="0"/>
          </a:p>
        </p:txBody>
      </p:sp>
      <p:sp>
        <p:nvSpPr>
          <p:cNvPr id="8" name="Text 5"/>
          <p:cNvSpPr/>
          <p:nvPr/>
        </p:nvSpPr>
        <p:spPr>
          <a:xfrm>
            <a:off x="690033" y="1440366"/>
            <a:ext cx="2428875" cy="1649682"/>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333333"/>
                </a:solidFill>
                <a:latin typeface="Inter" pitchFamily="34" charset="0"/>
                <a:ea typeface="Inter" pitchFamily="34" charset="-122"/>
                <a:cs typeface="Inter" pitchFamily="34" charset="-120"/>
              </a:rPr>
              <a:t>Designed for sequential data, it updates a </a:t>
            </a:r>
            <a:r>
              <a:rPr lang="en-US" sz="1000" b="1" dirty="0">
                <a:solidFill>
                  <a:srgbClr val="000000"/>
                </a:solidFill>
                <a:latin typeface="Inter Bold" pitchFamily="34" charset="0"/>
                <a:ea typeface="Inter Bold" pitchFamily="34" charset="-122"/>
                <a:cs typeface="Inter Bold" pitchFamily="34" charset="-120"/>
              </a:rPr>
              <a:t>hidden state</a:t>
            </a:r>
            <a:r>
              <a:rPr lang="en-US" sz="1000" dirty="0">
                <a:solidFill>
                  <a:srgbClr val="333333"/>
                </a:solidFill>
                <a:latin typeface="Inter" pitchFamily="34" charset="0"/>
                <a:ea typeface="Inter" pitchFamily="34" charset="-122"/>
                <a:cs typeface="Inter" pitchFamily="34" charset="-120"/>
              </a:rPr>
              <a:t> at each step to carry information forward. Reads 24-hour history for next-hour forecasts.</a:t>
            </a:r>
          </a:p>
          <a:p>
            <a:pPr marL="0" indent="0" algn="l">
              <a:lnSpc>
                <a:spcPct val="120000"/>
              </a:lnSpc>
              <a:buNone/>
            </a:pPr>
            <a:endParaRPr lang="en-US" sz="1000" dirty="0">
              <a:solidFill>
                <a:srgbClr val="333333"/>
              </a:solidFill>
              <a:latin typeface="Inter" pitchFamily="34" charset="0"/>
              <a:ea typeface="Inter" pitchFamily="34" charset="-122"/>
            </a:endParaRPr>
          </a:p>
          <a:p>
            <a:pPr>
              <a:lnSpc>
                <a:spcPct val="120000"/>
              </a:lnSpc>
            </a:pPr>
            <a:r>
              <a:rPr lang="en-US" sz="1000" dirty="0">
                <a:solidFill>
                  <a:srgbClr val="333333"/>
                </a:solidFill>
                <a:latin typeface="Inter" pitchFamily="34" charset="0"/>
                <a:ea typeface="Inter" pitchFamily="34" charset="-122"/>
                <a:cs typeface="Inter" pitchFamily="34" charset="-120"/>
              </a:rPr>
              <a:t>Core weakness: </a:t>
            </a:r>
            <a:r>
              <a:rPr lang="en-US" sz="1000" b="1" dirty="0">
                <a:solidFill>
                  <a:srgbClr val="000000"/>
                </a:solidFill>
                <a:latin typeface="Inter Bold" pitchFamily="34" charset="0"/>
                <a:ea typeface="Inter Bold" pitchFamily="34" charset="-122"/>
                <a:cs typeface="Inter Bold" pitchFamily="34" charset="-120"/>
              </a:rPr>
              <a:t>Vanishing gradients</a:t>
            </a:r>
            <a:r>
              <a:rPr lang="en-US" sz="1000" dirty="0">
                <a:solidFill>
                  <a:srgbClr val="333333"/>
                </a:solidFill>
                <a:latin typeface="Inter" pitchFamily="34" charset="0"/>
                <a:ea typeface="Inter" pitchFamily="34" charset="-122"/>
                <a:cs typeface="Inter" pitchFamily="34" charset="-120"/>
              </a:rPr>
              <a:t> make it hard to learn dependencies beyond 10–20 steps.</a:t>
            </a:r>
            <a:endParaRPr lang="en-US" sz="1000" dirty="0"/>
          </a:p>
          <a:p>
            <a:pPr marL="0" indent="0" algn="l">
              <a:lnSpc>
                <a:spcPct val="120000"/>
              </a:lnSpc>
              <a:buNone/>
            </a:pPr>
            <a:endParaRPr lang="en-US" sz="1000" dirty="0"/>
          </a:p>
        </p:txBody>
      </p:sp>
      <p:sp>
        <p:nvSpPr>
          <p:cNvPr id="9" name="Text 6"/>
          <p:cNvSpPr/>
          <p:nvPr/>
        </p:nvSpPr>
        <p:spPr>
          <a:xfrm>
            <a:off x="571500" y="2184840"/>
            <a:ext cx="2428875" cy="137923"/>
          </a:xfrm>
          <a:prstGeom prst="rect">
            <a:avLst/>
          </a:prstGeom>
          <a:noFill/>
          <a:ln/>
        </p:spPr>
        <p:txBody>
          <a:bodyPr wrap="square" lIns="0" tIns="0" rIns="0" bIns="0" rtlCol="0" anchor="t">
            <a:spAutoFit/>
          </a:bodyPr>
          <a:lstStyle/>
          <a:p>
            <a:pPr marL="0" indent="0" algn="l">
              <a:lnSpc>
                <a:spcPct val="120000"/>
              </a:lnSpc>
              <a:buNone/>
            </a:pPr>
            <a:endParaRPr lang="en-US" sz="800" dirty="0"/>
          </a:p>
        </p:txBody>
      </p:sp>
      <p:sp>
        <p:nvSpPr>
          <p:cNvPr id="12" name="Text 9"/>
          <p:cNvSpPr/>
          <p:nvPr/>
        </p:nvSpPr>
        <p:spPr>
          <a:xfrm>
            <a:off x="4636029" y="1172214"/>
            <a:ext cx="2428875" cy="155377"/>
          </a:xfrm>
          <a:prstGeom prst="rect">
            <a:avLst/>
          </a:prstGeom>
          <a:noFill/>
          <a:ln/>
        </p:spPr>
        <p:txBody>
          <a:bodyPr wrap="square" lIns="102108"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LSTM ARCHITECTURE</a:t>
            </a:r>
            <a:endParaRPr lang="en-US" sz="1000" dirty="0"/>
          </a:p>
        </p:txBody>
      </p:sp>
      <p:sp>
        <p:nvSpPr>
          <p:cNvPr id="13" name="Text 10"/>
          <p:cNvSpPr/>
          <p:nvPr/>
        </p:nvSpPr>
        <p:spPr>
          <a:xfrm>
            <a:off x="4731722" y="1440366"/>
            <a:ext cx="2428875" cy="1280351"/>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333333"/>
                </a:solidFill>
                <a:latin typeface="Inter" pitchFamily="34" charset="0"/>
                <a:ea typeface="Inter" pitchFamily="34" charset="-122"/>
                <a:cs typeface="Inter" pitchFamily="34" charset="-120"/>
              </a:rPr>
              <a:t>Fixes the RNN's weakness using a </a:t>
            </a:r>
            <a:r>
              <a:rPr lang="en-US" sz="1000" b="1" dirty="0">
                <a:solidFill>
                  <a:srgbClr val="000000"/>
                </a:solidFill>
                <a:latin typeface="Inter Bold" pitchFamily="34" charset="0"/>
                <a:ea typeface="Inter Bold" pitchFamily="34" charset="-122"/>
                <a:cs typeface="Inter Bold" pitchFamily="34" charset="-120"/>
              </a:rPr>
              <a:t>cell state</a:t>
            </a:r>
            <a:r>
              <a:rPr lang="en-US" sz="1000" dirty="0">
                <a:solidFill>
                  <a:srgbClr val="333333"/>
                </a:solidFill>
                <a:latin typeface="Inter" pitchFamily="34" charset="0"/>
                <a:ea typeface="Inter" pitchFamily="34" charset="-122"/>
                <a:cs typeface="Inter" pitchFamily="34" charset="-120"/>
              </a:rPr>
              <a:t> and three learned </a:t>
            </a:r>
            <a:r>
              <a:rPr lang="en-US" sz="1000" b="1" dirty="0">
                <a:solidFill>
                  <a:srgbClr val="000000"/>
                </a:solidFill>
                <a:latin typeface="Inter Bold" pitchFamily="34" charset="0"/>
                <a:ea typeface="Inter Bold" pitchFamily="34" charset="-122"/>
                <a:cs typeface="Inter Bold" pitchFamily="34" charset="-120"/>
              </a:rPr>
              <a:t>gates</a:t>
            </a:r>
            <a:r>
              <a:rPr lang="en-US" sz="1000" dirty="0">
                <a:solidFill>
                  <a:srgbClr val="333333"/>
                </a:solidFill>
                <a:latin typeface="Inter" pitchFamily="34" charset="0"/>
                <a:ea typeface="Inter" pitchFamily="34" charset="-122"/>
                <a:cs typeface="Inter" pitchFamily="34" charset="-120"/>
              </a:rPr>
              <a:t> (forget, input, output) to control information flow.</a:t>
            </a:r>
          </a:p>
          <a:p>
            <a:pPr marL="0" indent="0" algn="l">
              <a:lnSpc>
                <a:spcPct val="120000"/>
              </a:lnSpc>
              <a:buNone/>
            </a:pPr>
            <a:endParaRPr lang="en-US" sz="1000" dirty="0">
              <a:solidFill>
                <a:srgbClr val="333333"/>
              </a:solidFill>
              <a:latin typeface="Inter" pitchFamily="34" charset="0"/>
              <a:ea typeface="Inter" pitchFamily="34" charset="-122"/>
            </a:endParaRPr>
          </a:p>
          <a:p>
            <a:pPr>
              <a:lnSpc>
                <a:spcPct val="120000"/>
              </a:lnSpc>
            </a:pPr>
            <a:r>
              <a:rPr lang="en-US" sz="1000" dirty="0">
                <a:solidFill>
                  <a:srgbClr val="333333"/>
                </a:solidFill>
                <a:latin typeface="Inter" pitchFamily="34" charset="0"/>
                <a:ea typeface="Inter" pitchFamily="34" charset="-122"/>
                <a:cs typeface="Inter" pitchFamily="34" charset="-120"/>
              </a:rPr>
              <a:t>Effectively retains relevant context over hundreds of steps, capturing </a:t>
            </a:r>
            <a:r>
              <a:rPr lang="en-US" sz="1000" b="1" dirty="0">
                <a:solidFill>
                  <a:srgbClr val="000000"/>
                </a:solidFill>
                <a:latin typeface="Inter Bold" pitchFamily="34" charset="0"/>
                <a:ea typeface="Inter Bold" pitchFamily="34" charset="-122"/>
                <a:cs typeface="Inter Bold" pitchFamily="34" charset="-120"/>
              </a:rPr>
              <a:t>daily and weekly periodicities</a:t>
            </a:r>
            <a:r>
              <a:rPr lang="en-US" sz="1000" dirty="0">
                <a:solidFill>
                  <a:srgbClr val="333333"/>
                </a:solidFill>
                <a:latin typeface="Inter" pitchFamily="34" charset="0"/>
                <a:ea typeface="Inter" pitchFamily="34" charset="-122"/>
                <a:cs typeface="Inter" pitchFamily="34" charset="-120"/>
              </a:rPr>
              <a:t>.</a:t>
            </a:r>
          </a:p>
        </p:txBody>
      </p:sp>
      <p:sp>
        <p:nvSpPr>
          <p:cNvPr id="14" name="Text 11"/>
          <p:cNvSpPr/>
          <p:nvPr/>
        </p:nvSpPr>
        <p:spPr>
          <a:xfrm>
            <a:off x="4636029" y="2024106"/>
            <a:ext cx="2428875" cy="285656"/>
          </a:xfrm>
          <a:prstGeom prst="rect">
            <a:avLst/>
          </a:prstGeom>
          <a:noFill/>
          <a:ln/>
        </p:spPr>
        <p:txBody>
          <a:bodyPr wrap="square" lIns="0" tIns="0" rIns="0" bIns="0" rtlCol="0" anchor="t">
            <a:spAutoFit/>
          </a:bodyPr>
          <a:lstStyle/>
          <a:p>
            <a:pPr marL="0" indent="0" algn="l">
              <a:lnSpc>
                <a:spcPct val="120000"/>
              </a:lnSpc>
              <a:buNone/>
            </a:pPr>
            <a:endParaRPr lang="en-US" sz="800" dirty="0">
              <a:solidFill>
                <a:srgbClr val="333333"/>
              </a:solidFill>
              <a:latin typeface="Inter" pitchFamily="34" charset="0"/>
              <a:ea typeface="Inter" pitchFamily="34" charset="-122"/>
            </a:endParaRPr>
          </a:p>
          <a:p>
            <a:pPr marL="0" indent="0" algn="l">
              <a:lnSpc>
                <a:spcPct val="120000"/>
              </a:lnSpc>
              <a:buNone/>
            </a:pP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3" name="Text 0"/>
          <p:cNvSpPr/>
          <p:nvPr/>
        </p:nvSpPr>
        <p:spPr>
          <a:xfrm>
            <a:off x="1891308" y="2218134"/>
            <a:ext cx="5361384" cy="207169"/>
          </a:xfrm>
          <a:prstGeom prst="rect">
            <a:avLst/>
          </a:prstGeom>
          <a:noFill/>
          <a:ln/>
        </p:spPr>
        <p:txBody>
          <a:bodyPr wrap="square" lIns="0" tIns="0" rIns="0" bIns="0" rtlCol="0" anchor="t">
            <a:spAutoFit/>
          </a:bodyPr>
          <a:lstStyle/>
          <a:p>
            <a:pPr marL="0" indent="0" algn="ctr">
              <a:buNone/>
            </a:pPr>
            <a:r>
              <a:rPr lang="en-US" sz="1200" b="1" kern="0" spc="4" dirty="0">
                <a:solidFill>
                  <a:srgbClr val="0055FF"/>
                </a:solidFill>
                <a:latin typeface="Inter Bold" pitchFamily="34" charset="0"/>
                <a:ea typeface="Inter Bold" pitchFamily="34" charset="-122"/>
                <a:cs typeface="Inter Bold" pitchFamily="34" charset="-120"/>
              </a:rPr>
              <a:t>SECTION 1</a:t>
            </a:r>
            <a:endParaRPr lang="en-US" sz="1200" dirty="0"/>
          </a:p>
        </p:txBody>
      </p:sp>
      <p:sp>
        <p:nvSpPr>
          <p:cNvPr id="4" name="Text 1"/>
          <p:cNvSpPr/>
          <p:nvPr/>
        </p:nvSpPr>
        <p:spPr>
          <a:xfrm>
            <a:off x="1891308" y="2496741"/>
            <a:ext cx="5361384" cy="414338"/>
          </a:xfrm>
          <a:prstGeom prst="rect">
            <a:avLst/>
          </a:prstGeom>
          <a:noFill/>
          <a:ln/>
        </p:spPr>
        <p:txBody>
          <a:bodyPr wrap="square" lIns="0" tIns="0" rIns="0" bIns="0" rtlCol="0" anchor="t">
            <a:spAutoFit/>
          </a:bodyPr>
          <a:lstStyle/>
          <a:p>
            <a:pPr marL="0" indent="0" algn="ctr">
              <a:buNone/>
            </a:pPr>
            <a:r>
              <a:rPr lang="en-US" sz="2450" b="1" dirty="0">
                <a:solidFill>
                  <a:srgbClr val="000000"/>
                </a:solidFill>
                <a:latin typeface="Inter Bold" pitchFamily="34" charset="0"/>
                <a:ea typeface="Inter Bold" pitchFamily="34" charset="-122"/>
                <a:cs typeface="Inter Bold" pitchFamily="34" charset="-120"/>
              </a:rPr>
              <a:t>Exploratory Data Analysis (EDA)</a:t>
            </a:r>
            <a:endParaRPr lang="en-US" sz="2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571500" y="529475"/>
            <a:ext cx="8572500" cy="31253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Time Series Trends and Distribution</a:t>
            </a:r>
            <a:endParaRPr lang="en-US" sz="1800" dirty="0"/>
          </a:p>
        </p:txBody>
      </p:sp>
      <p:sp>
        <p:nvSpPr>
          <p:cNvPr id="4" name="Text 1"/>
          <p:cNvSpPr/>
          <p:nvPr/>
        </p:nvSpPr>
        <p:spPr>
          <a:xfrm>
            <a:off x="571500" y="903355"/>
            <a:ext cx="3857625" cy="155377"/>
          </a:xfrm>
          <a:prstGeom prst="rect">
            <a:avLst/>
          </a:prstGeom>
          <a:noFill/>
          <a:ln/>
        </p:spPr>
        <p:txBody>
          <a:bodyPr wrap="square" lIns="0"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RAW DEMAND TREND</a:t>
            </a:r>
            <a:endParaRPr lang="en-US" sz="1000" dirty="0"/>
          </a:p>
        </p:txBody>
      </p:sp>
      <p:sp>
        <p:nvSpPr>
          <p:cNvPr id="8" name="Text 4"/>
          <p:cNvSpPr/>
          <p:nvPr/>
        </p:nvSpPr>
        <p:spPr>
          <a:xfrm>
            <a:off x="571500" y="3056551"/>
            <a:ext cx="3857625" cy="155377"/>
          </a:xfrm>
          <a:prstGeom prst="rect">
            <a:avLst/>
          </a:prstGeom>
          <a:noFill/>
          <a:ln/>
        </p:spPr>
        <p:txBody>
          <a:bodyPr wrap="square" lIns="0"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CONSUMPTION DISTRIBUTION</a:t>
            </a:r>
            <a:endParaRPr lang="en-US" sz="1000" dirty="0"/>
          </a:p>
        </p:txBody>
      </p:sp>
      <p:pic>
        <p:nvPicPr>
          <p:cNvPr id="12" name="Picture 11">
            <a:extLst>
              <a:ext uri="{FF2B5EF4-FFF2-40B4-BE49-F238E27FC236}">
                <a16:creationId xmlns:a16="http://schemas.microsoft.com/office/drawing/2014/main" id="{1E295FBD-9BEE-D8D7-9FB1-CA4B925EA9DE}"/>
              </a:ext>
            </a:extLst>
          </p:cNvPr>
          <p:cNvPicPr>
            <a:picLocks noChangeAspect="1"/>
          </p:cNvPicPr>
          <p:nvPr/>
        </p:nvPicPr>
        <p:blipFill>
          <a:blip r:embed="rId3"/>
          <a:stretch>
            <a:fillRect/>
          </a:stretch>
        </p:blipFill>
        <p:spPr>
          <a:xfrm>
            <a:off x="503053" y="1120072"/>
            <a:ext cx="6953065" cy="1701799"/>
          </a:xfrm>
          <a:prstGeom prst="rect">
            <a:avLst/>
          </a:prstGeom>
        </p:spPr>
      </p:pic>
      <p:pic>
        <p:nvPicPr>
          <p:cNvPr id="13" name="Picture 12">
            <a:extLst>
              <a:ext uri="{FF2B5EF4-FFF2-40B4-BE49-F238E27FC236}">
                <a16:creationId xmlns:a16="http://schemas.microsoft.com/office/drawing/2014/main" id="{3B4FD870-7C58-4D4F-6F19-617F3522880B}"/>
              </a:ext>
            </a:extLst>
          </p:cNvPr>
          <p:cNvPicPr>
            <a:picLocks noChangeAspect="1"/>
          </p:cNvPicPr>
          <p:nvPr/>
        </p:nvPicPr>
        <p:blipFill>
          <a:blip r:embed="rId4"/>
          <a:stretch>
            <a:fillRect/>
          </a:stretch>
        </p:blipFill>
        <p:spPr>
          <a:xfrm>
            <a:off x="503053" y="3285403"/>
            <a:ext cx="7264400" cy="1701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571500" y="529475"/>
            <a:ext cx="8572500" cy="27699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Seasonal Patterns</a:t>
            </a:r>
            <a:endParaRPr lang="en-US" sz="1800" dirty="0"/>
          </a:p>
        </p:txBody>
      </p:sp>
      <p:sp>
        <p:nvSpPr>
          <p:cNvPr id="9" name="Text 6"/>
          <p:cNvSpPr/>
          <p:nvPr/>
        </p:nvSpPr>
        <p:spPr>
          <a:xfrm>
            <a:off x="571500" y="891548"/>
            <a:ext cx="6860658" cy="357021"/>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333333"/>
                </a:solidFill>
                <a:latin typeface="Inter" pitchFamily="34" charset="0"/>
                <a:ea typeface="Inter" pitchFamily="34" charset="-122"/>
                <a:cs typeface="Inter" pitchFamily="34" charset="-120"/>
              </a:rPr>
              <a:t>Analysis reveals </a:t>
            </a:r>
            <a:r>
              <a:rPr lang="en-US" sz="1000" b="1" dirty="0">
                <a:solidFill>
                  <a:srgbClr val="000000"/>
                </a:solidFill>
                <a:latin typeface="Inter Bold" pitchFamily="34" charset="0"/>
                <a:ea typeface="Inter Bold" pitchFamily="34" charset="-122"/>
                <a:cs typeface="Inter Bold" pitchFamily="34" charset="-120"/>
              </a:rPr>
              <a:t>strong seasonality in daily, weekly, and monthly</a:t>
            </a:r>
            <a:r>
              <a:rPr lang="en-US" sz="1000" dirty="0">
                <a:solidFill>
                  <a:srgbClr val="333333"/>
                </a:solidFill>
                <a:latin typeface="Inter" pitchFamily="34" charset="0"/>
                <a:ea typeface="Inter" pitchFamily="34" charset="-122"/>
                <a:cs typeface="Inter" pitchFamily="34" charset="-120"/>
              </a:rPr>
              <a:t>.</a:t>
            </a:r>
          </a:p>
          <a:p>
            <a:pPr>
              <a:lnSpc>
                <a:spcPct val="120000"/>
              </a:lnSpc>
            </a:pPr>
            <a:r>
              <a:rPr lang="en-US" sz="1000" dirty="0"/>
              <a:t>Morning and evening hourly peak; weekends lowers than weekdays; winter and summer peak;</a:t>
            </a:r>
          </a:p>
        </p:txBody>
      </p:sp>
      <p:pic>
        <p:nvPicPr>
          <p:cNvPr id="12" name="Picture 11">
            <a:extLst>
              <a:ext uri="{FF2B5EF4-FFF2-40B4-BE49-F238E27FC236}">
                <a16:creationId xmlns:a16="http://schemas.microsoft.com/office/drawing/2014/main" id="{A3AF0707-AC53-659B-2499-CFD41FC5D24A}"/>
              </a:ext>
            </a:extLst>
          </p:cNvPr>
          <p:cNvPicPr>
            <a:picLocks noChangeAspect="1"/>
          </p:cNvPicPr>
          <p:nvPr/>
        </p:nvPicPr>
        <p:blipFill>
          <a:blip r:embed="rId3"/>
          <a:stretch>
            <a:fillRect/>
          </a:stretch>
        </p:blipFill>
        <p:spPr>
          <a:xfrm>
            <a:off x="438593" y="1676931"/>
            <a:ext cx="7772400" cy="21241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932509" y="2225278"/>
            <a:ext cx="3278981" cy="207169"/>
          </a:xfrm>
          <a:prstGeom prst="rect">
            <a:avLst/>
          </a:prstGeom>
          <a:noFill/>
          <a:ln/>
        </p:spPr>
        <p:txBody>
          <a:bodyPr wrap="square" lIns="0" tIns="0" rIns="0" bIns="0" rtlCol="0" anchor="t">
            <a:spAutoFit/>
          </a:bodyPr>
          <a:lstStyle/>
          <a:p>
            <a:pPr marL="0" indent="0" algn="ctr">
              <a:buNone/>
            </a:pPr>
            <a:r>
              <a:rPr lang="en-US" sz="1200" b="1" kern="0" spc="4" dirty="0">
                <a:solidFill>
                  <a:srgbClr val="0055FF"/>
                </a:solidFill>
                <a:latin typeface="Inter Bold" pitchFamily="34" charset="0"/>
                <a:ea typeface="Inter Bold" pitchFamily="34" charset="-122"/>
                <a:cs typeface="Inter Bold" pitchFamily="34" charset="-120"/>
              </a:rPr>
              <a:t>SECTION 2</a:t>
            </a:r>
            <a:endParaRPr lang="en-US" sz="1200" dirty="0"/>
          </a:p>
        </p:txBody>
      </p:sp>
      <p:sp>
        <p:nvSpPr>
          <p:cNvPr id="4" name="Text 1"/>
          <p:cNvSpPr/>
          <p:nvPr/>
        </p:nvSpPr>
        <p:spPr>
          <a:xfrm>
            <a:off x="2932509" y="2503884"/>
            <a:ext cx="3278981" cy="414338"/>
          </a:xfrm>
          <a:prstGeom prst="rect">
            <a:avLst/>
          </a:prstGeom>
          <a:noFill/>
          <a:ln/>
        </p:spPr>
        <p:txBody>
          <a:bodyPr wrap="square" lIns="0" tIns="0" rIns="0" bIns="0" rtlCol="0" anchor="t">
            <a:spAutoFit/>
          </a:bodyPr>
          <a:lstStyle/>
          <a:p>
            <a:pPr marL="0" indent="0" algn="ctr">
              <a:buNone/>
            </a:pPr>
            <a:r>
              <a:rPr lang="en-US" sz="2450" b="1" dirty="0">
                <a:solidFill>
                  <a:srgbClr val="000000"/>
                </a:solidFill>
                <a:latin typeface="Inter Bold" pitchFamily="34" charset="0"/>
                <a:ea typeface="Inter Bold" pitchFamily="34" charset="-122"/>
                <a:cs typeface="Inter Bold" pitchFamily="34" charset="-120"/>
              </a:rPr>
              <a:t>Data Preprocessing</a:t>
            </a:r>
            <a:endParaRPr lang="en-US" sz="2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71500" y="529475"/>
            <a:ext cx="8572500" cy="31253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Cleaning and Time-Ordered Splitting</a:t>
            </a:r>
            <a:endParaRPr lang="en-US" sz="1800" dirty="0"/>
          </a:p>
        </p:txBody>
      </p:sp>
      <p:sp>
        <p:nvSpPr>
          <p:cNvPr id="4" name="Text 1"/>
          <p:cNvSpPr/>
          <p:nvPr/>
        </p:nvSpPr>
        <p:spPr>
          <a:xfrm>
            <a:off x="571499" y="980423"/>
            <a:ext cx="3000375" cy="155377"/>
          </a:xfrm>
          <a:prstGeom prst="rect">
            <a:avLst/>
          </a:prstGeom>
          <a:noFill/>
          <a:ln/>
        </p:spPr>
        <p:txBody>
          <a:bodyPr wrap="square" lIns="0"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OUTLIER TREATMENT</a:t>
            </a:r>
            <a:endParaRPr lang="en-US" sz="1000" dirty="0"/>
          </a:p>
        </p:txBody>
      </p:sp>
      <p:sp>
        <p:nvSpPr>
          <p:cNvPr id="5" name="Text 2"/>
          <p:cNvSpPr/>
          <p:nvPr/>
        </p:nvSpPr>
        <p:spPr>
          <a:xfrm>
            <a:off x="573320" y="1173387"/>
            <a:ext cx="5359647" cy="172355"/>
          </a:xfrm>
          <a:prstGeom prst="rect">
            <a:avLst/>
          </a:prstGeom>
          <a:noFill/>
          <a:ln/>
        </p:spPr>
        <p:txBody>
          <a:bodyPr wrap="square" lIns="0" tIns="0" rIns="0" bIns="0" rtlCol="0" anchor="t">
            <a:spAutoFit/>
          </a:bodyPr>
          <a:lstStyle/>
          <a:p>
            <a:pPr marL="0" indent="0" algn="l">
              <a:lnSpc>
                <a:spcPct val="120000"/>
              </a:lnSpc>
              <a:buNone/>
            </a:pPr>
            <a:r>
              <a:rPr lang="en-US" sz="1000" b="1" dirty="0">
                <a:solidFill>
                  <a:srgbClr val="000000"/>
                </a:solidFill>
                <a:latin typeface="Inter Bold" pitchFamily="34" charset="0"/>
                <a:ea typeface="Inter Bold" pitchFamily="34" charset="-122"/>
                <a:cs typeface="Inter Bold" pitchFamily="34" charset="-120"/>
              </a:rPr>
              <a:t>2,106 extreme points (1.81%)</a:t>
            </a:r>
            <a:r>
              <a:rPr lang="en-US" sz="1000" dirty="0">
                <a:solidFill>
                  <a:srgbClr val="333333"/>
                </a:solidFill>
                <a:latin typeface="Inter" pitchFamily="34" charset="0"/>
                <a:ea typeface="Inter" pitchFamily="34" charset="-122"/>
                <a:cs typeface="Inter" pitchFamily="34" charset="-120"/>
              </a:rPr>
              <a:t> were detected using IQR and clipped to fence boundary</a:t>
            </a:r>
            <a:endParaRPr lang="en-US" sz="1000" dirty="0"/>
          </a:p>
        </p:txBody>
      </p:sp>
      <p:sp>
        <p:nvSpPr>
          <p:cNvPr id="6" name="Text 3"/>
          <p:cNvSpPr/>
          <p:nvPr/>
        </p:nvSpPr>
        <p:spPr>
          <a:xfrm>
            <a:off x="571499" y="3025395"/>
            <a:ext cx="3000375" cy="155377"/>
          </a:xfrm>
          <a:prstGeom prst="rect">
            <a:avLst/>
          </a:prstGeom>
          <a:noFill/>
          <a:ln/>
        </p:spPr>
        <p:txBody>
          <a:bodyPr wrap="square" lIns="0"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TIME SPLIT</a:t>
            </a:r>
            <a:endParaRPr lang="en-US" sz="1000" dirty="0"/>
          </a:p>
        </p:txBody>
      </p:sp>
      <p:sp>
        <p:nvSpPr>
          <p:cNvPr id="7" name="Text 4"/>
          <p:cNvSpPr/>
          <p:nvPr/>
        </p:nvSpPr>
        <p:spPr>
          <a:xfrm>
            <a:off x="571499" y="3180772"/>
            <a:ext cx="7254064" cy="357021"/>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333333"/>
                </a:solidFill>
                <a:latin typeface="Inter" pitchFamily="34" charset="0"/>
                <a:ea typeface="Inter" pitchFamily="34" charset="-122"/>
                <a:cs typeface="Inter" pitchFamily="34" charset="-120"/>
              </a:rPr>
              <a:t>Data is split by </a:t>
            </a:r>
            <a:r>
              <a:rPr lang="en-US" sz="1000" b="1" dirty="0">
                <a:solidFill>
                  <a:srgbClr val="000000"/>
                </a:solidFill>
                <a:latin typeface="Inter Bold" pitchFamily="34" charset="0"/>
                <a:ea typeface="Inter Bold" pitchFamily="34" charset="-122"/>
                <a:cs typeface="Inter Bold" pitchFamily="34" charset="-120"/>
              </a:rPr>
              <a:t>time order</a:t>
            </a:r>
            <a:r>
              <a:rPr lang="en-US" sz="1000" dirty="0">
                <a:solidFill>
                  <a:srgbClr val="333333"/>
                </a:solidFill>
                <a:latin typeface="Inter" pitchFamily="34" charset="0"/>
                <a:ea typeface="Inter" pitchFamily="34" charset="-122"/>
                <a:cs typeface="Inter" pitchFamily="34" charset="-120"/>
              </a:rPr>
              <a:t> to prevent data leakage (70% training, 15% validation, 15% test).</a:t>
            </a:r>
          </a:p>
          <a:p>
            <a:pPr marL="0" indent="0" algn="l">
              <a:lnSpc>
                <a:spcPct val="120000"/>
              </a:lnSpc>
              <a:buNone/>
            </a:pPr>
            <a:r>
              <a:rPr lang="en-US" sz="1000" dirty="0">
                <a:solidFill>
                  <a:srgbClr val="333333"/>
                </a:solidFill>
                <a:latin typeface="Inter" pitchFamily="34" charset="0"/>
                <a:ea typeface="Inter" pitchFamily="34" charset="-122"/>
                <a:cs typeface="Inter" pitchFamily="34" charset="-120"/>
              </a:rPr>
              <a:t>Normalized by Min-Max to map value in [0,1], and scaling parameters are fitted </a:t>
            </a:r>
            <a:r>
              <a:rPr lang="en-US" sz="1000" b="1" dirty="0">
                <a:solidFill>
                  <a:srgbClr val="000000"/>
                </a:solidFill>
                <a:latin typeface="Inter Bold" pitchFamily="34" charset="0"/>
                <a:ea typeface="Inter Bold" pitchFamily="34" charset="-122"/>
                <a:cs typeface="Inter Bold" pitchFamily="34" charset="-120"/>
              </a:rPr>
              <a:t>only on training data</a:t>
            </a:r>
            <a:r>
              <a:rPr lang="en-US" sz="1000" dirty="0">
                <a:solidFill>
                  <a:srgbClr val="333333"/>
                </a:solidFill>
                <a:latin typeface="Inter" pitchFamily="34" charset="0"/>
                <a:ea typeface="Inter" pitchFamily="34" charset="-122"/>
                <a:cs typeface="Inter" pitchFamily="34" charset="-120"/>
              </a:rPr>
              <a:t>.</a:t>
            </a:r>
            <a:endParaRPr lang="en-US" sz="1000" dirty="0"/>
          </a:p>
        </p:txBody>
      </p:sp>
      <p:pic>
        <p:nvPicPr>
          <p:cNvPr id="26" name="Picture 25">
            <a:extLst>
              <a:ext uri="{FF2B5EF4-FFF2-40B4-BE49-F238E27FC236}">
                <a16:creationId xmlns:a16="http://schemas.microsoft.com/office/drawing/2014/main" id="{05CEE2AE-2B26-B8C1-95FD-FA61ECFEE82F}"/>
              </a:ext>
            </a:extLst>
          </p:cNvPr>
          <p:cNvPicPr>
            <a:picLocks noChangeAspect="1"/>
          </p:cNvPicPr>
          <p:nvPr/>
        </p:nvPicPr>
        <p:blipFill>
          <a:blip r:embed="rId3"/>
          <a:stretch>
            <a:fillRect/>
          </a:stretch>
        </p:blipFill>
        <p:spPr>
          <a:xfrm>
            <a:off x="475806" y="1379153"/>
            <a:ext cx="5648547" cy="1553351"/>
          </a:xfrm>
          <a:prstGeom prst="rect">
            <a:avLst/>
          </a:prstGeom>
        </p:spPr>
      </p:pic>
      <p:pic>
        <p:nvPicPr>
          <p:cNvPr id="27" name="Picture 26">
            <a:extLst>
              <a:ext uri="{FF2B5EF4-FFF2-40B4-BE49-F238E27FC236}">
                <a16:creationId xmlns:a16="http://schemas.microsoft.com/office/drawing/2014/main" id="{8CCE79F8-9CBA-5103-875C-94FE0C9B1A26}"/>
              </a:ext>
            </a:extLst>
          </p:cNvPr>
          <p:cNvPicPr>
            <a:picLocks noChangeAspect="1"/>
          </p:cNvPicPr>
          <p:nvPr/>
        </p:nvPicPr>
        <p:blipFill>
          <a:blip r:embed="rId4"/>
          <a:stretch>
            <a:fillRect/>
          </a:stretch>
        </p:blipFill>
        <p:spPr>
          <a:xfrm>
            <a:off x="401377" y="3529377"/>
            <a:ext cx="6594845" cy="16141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71500" y="529475"/>
            <a:ext cx="8572500" cy="31253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Engineering Cyclical Time Features</a:t>
            </a:r>
            <a:endParaRPr lang="en-US" sz="1800" dirty="0"/>
          </a:p>
        </p:txBody>
      </p:sp>
      <p:sp>
        <p:nvSpPr>
          <p:cNvPr id="4" name="Text 1"/>
          <p:cNvSpPr/>
          <p:nvPr/>
        </p:nvSpPr>
        <p:spPr>
          <a:xfrm>
            <a:off x="571500" y="1039955"/>
            <a:ext cx="3429000" cy="153888"/>
          </a:xfrm>
          <a:prstGeom prst="rect">
            <a:avLst/>
          </a:prstGeom>
          <a:noFill/>
          <a:ln/>
        </p:spPr>
        <p:txBody>
          <a:bodyPr wrap="square" lIns="0"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IDEA</a:t>
            </a:r>
            <a:endParaRPr lang="en-US" sz="1000" dirty="0"/>
          </a:p>
        </p:txBody>
      </p:sp>
      <p:sp>
        <p:nvSpPr>
          <p:cNvPr id="5" name="Text 2"/>
          <p:cNvSpPr/>
          <p:nvPr/>
        </p:nvSpPr>
        <p:spPr>
          <a:xfrm>
            <a:off x="571500" y="1213273"/>
            <a:ext cx="8296053" cy="1095685"/>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333333"/>
                </a:solidFill>
                <a:latin typeface="Inter" pitchFamily="34" charset="0"/>
                <a:ea typeface="Inter" pitchFamily="34" charset="-122"/>
                <a:cs typeface="Inter" pitchFamily="34" charset="-120"/>
              </a:rPr>
              <a:t>Enrich feature set for training. Linear encoding (0-23) creates a </a:t>
            </a:r>
            <a:r>
              <a:rPr lang="en-US" sz="1000" b="1" dirty="0">
                <a:solidFill>
                  <a:srgbClr val="333333"/>
                </a:solidFill>
                <a:latin typeface="Inter Bold" pitchFamily="34" charset="0"/>
                <a:ea typeface="Inter Bold" pitchFamily="34" charset="-122"/>
                <a:cs typeface="Inter Bold" pitchFamily="34" charset="-120"/>
              </a:rPr>
              <a:t>false distance</a:t>
            </a:r>
            <a:r>
              <a:rPr lang="en-US" sz="1000" dirty="0">
                <a:solidFill>
                  <a:srgbClr val="333333"/>
                </a:solidFill>
                <a:latin typeface="Inter" pitchFamily="34" charset="0"/>
                <a:ea typeface="Inter" pitchFamily="34" charset="-122"/>
                <a:cs typeface="Inter" pitchFamily="34" charset="-120"/>
              </a:rPr>
              <a:t> between hour 23 and hour 0; researched another way called cyclical embedding.</a:t>
            </a:r>
          </a:p>
          <a:p>
            <a:pPr marL="0" indent="0" algn="l">
              <a:lnSpc>
                <a:spcPct val="120000"/>
              </a:lnSpc>
              <a:buNone/>
            </a:pPr>
            <a:endParaRPr lang="en-US" sz="1000" dirty="0">
              <a:solidFill>
                <a:srgbClr val="333333"/>
              </a:solidFill>
              <a:latin typeface="Inter" pitchFamily="34" charset="0"/>
              <a:ea typeface="Inter" pitchFamily="34" charset="-122"/>
            </a:endParaRPr>
          </a:p>
          <a:p>
            <a:pPr>
              <a:lnSpc>
                <a:spcPct val="120000"/>
              </a:lnSpc>
            </a:pPr>
            <a:r>
              <a:rPr lang="en-US" sz="1000" dirty="0">
                <a:solidFill>
                  <a:srgbClr val="333333"/>
                </a:solidFill>
                <a:latin typeface="Inter" pitchFamily="34" charset="0"/>
                <a:ea typeface="Inter" pitchFamily="34" charset="-122"/>
                <a:cs typeface="Inter" pitchFamily="34" charset="-120"/>
              </a:rPr>
              <a:t>Project time onto a </a:t>
            </a:r>
            <a:r>
              <a:rPr lang="en-US" sz="1000" b="1" dirty="0">
                <a:solidFill>
                  <a:srgbClr val="333333"/>
                </a:solidFill>
                <a:latin typeface="Inter Bold" pitchFamily="34" charset="0"/>
                <a:ea typeface="Inter Bold" pitchFamily="34" charset="-122"/>
                <a:cs typeface="Inter Bold" pitchFamily="34" charset="-120"/>
              </a:rPr>
              <a:t>2D circle</a:t>
            </a:r>
            <a:r>
              <a:rPr lang="en-US" sz="1000" dirty="0">
                <a:solidFill>
                  <a:srgbClr val="333333"/>
                </a:solidFill>
                <a:latin typeface="Inter" pitchFamily="34" charset="0"/>
                <a:ea typeface="Inter" pitchFamily="34" charset="-122"/>
                <a:cs typeface="Inter" pitchFamily="34" charset="-120"/>
              </a:rPr>
              <a:t> using sine and cosine transformations. This preserves the periodic nature of time, where period in 24, 7, 12</a:t>
            </a:r>
            <a:endParaRPr lang="en-US" sz="1000" dirty="0">
              <a:solidFill>
                <a:srgbClr val="666666"/>
              </a:solidFill>
              <a:latin typeface="monospace" pitchFamily="34" charset="0"/>
              <a:ea typeface="monospace" pitchFamily="34" charset="-122"/>
              <a:cs typeface="monospace" pitchFamily="34" charset="-120"/>
            </a:endParaRPr>
          </a:p>
          <a:p>
            <a:pPr>
              <a:lnSpc>
                <a:spcPct val="120000"/>
              </a:lnSpc>
            </a:pPr>
            <a:r>
              <a:rPr lang="en-US" sz="1000" dirty="0" err="1">
                <a:solidFill>
                  <a:srgbClr val="666666"/>
                </a:solidFill>
                <a:latin typeface="monospace" pitchFamily="34" charset="0"/>
                <a:ea typeface="monospace" pitchFamily="34" charset="-122"/>
                <a:cs typeface="monospace" pitchFamily="34" charset="-120"/>
              </a:rPr>
              <a:t>x_sin</a:t>
            </a:r>
            <a:r>
              <a:rPr lang="en-US" sz="1000" dirty="0">
                <a:solidFill>
                  <a:srgbClr val="666666"/>
                </a:solidFill>
                <a:latin typeface="monospace" pitchFamily="34" charset="0"/>
                <a:ea typeface="monospace" pitchFamily="34" charset="-122"/>
                <a:cs typeface="monospace" pitchFamily="34" charset="-120"/>
              </a:rPr>
              <a:t> = sin(2 * π * t / period)
</a:t>
            </a:r>
            <a:r>
              <a:rPr lang="en-US" sz="1000" dirty="0" err="1">
                <a:solidFill>
                  <a:srgbClr val="666666"/>
                </a:solidFill>
                <a:latin typeface="monospace" pitchFamily="34" charset="0"/>
                <a:ea typeface="monospace" pitchFamily="34" charset="-122"/>
                <a:cs typeface="monospace" pitchFamily="34" charset="-120"/>
              </a:rPr>
              <a:t>x_cos</a:t>
            </a:r>
            <a:r>
              <a:rPr lang="en-US" sz="1000" dirty="0">
                <a:solidFill>
                  <a:srgbClr val="666666"/>
                </a:solidFill>
                <a:latin typeface="monospace" pitchFamily="34" charset="0"/>
                <a:ea typeface="monospace" pitchFamily="34" charset="-122"/>
                <a:cs typeface="monospace" pitchFamily="34" charset="-120"/>
              </a:rPr>
              <a:t> = cos(2 * π * t / period)</a:t>
            </a:r>
            <a:endParaRPr lang="en-US" sz="1000" dirty="0"/>
          </a:p>
          <a:p>
            <a:pPr>
              <a:lnSpc>
                <a:spcPct val="120000"/>
              </a:lnSpc>
            </a:pPr>
            <a:endParaRPr lang="en-US" sz="1000" dirty="0"/>
          </a:p>
        </p:txBody>
      </p:sp>
      <p:sp>
        <p:nvSpPr>
          <p:cNvPr id="7" name="Text 4"/>
          <p:cNvSpPr/>
          <p:nvPr/>
        </p:nvSpPr>
        <p:spPr>
          <a:xfrm>
            <a:off x="571500" y="2613664"/>
            <a:ext cx="3429000" cy="172355"/>
          </a:xfrm>
          <a:prstGeom prst="rect">
            <a:avLst/>
          </a:prstGeom>
          <a:noFill/>
          <a:ln/>
        </p:spPr>
        <p:txBody>
          <a:bodyPr wrap="square" lIns="0" tIns="0" rIns="0" bIns="0" rtlCol="0" anchor="t">
            <a:spAutoFit/>
          </a:bodyPr>
          <a:lstStyle/>
          <a:p>
            <a:pPr marL="0" indent="0" algn="l">
              <a:lnSpc>
                <a:spcPct val="120000"/>
              </a:lnSpc>
              <a:buNone/>
            </a:pPr>
            <a:endParaRPr lang="en-US" sz="1000" dirty="0"/>
          </a:p>
        </p:txBody>
      </p:sp>
      <p:pic>
        <p:nvPicPr>
          <p:cNvPr id="17" name="Picture 16">
            <a:extLst>
              <a:ext uri="{FF2B5EF4-FFF2-40B4-BE49-F238E27FC236}">
                <a16:creationId xmlns:a16="http://schemas.microsoft.com/office/drawing/2014/main" id="{7CDB3F65-431E-BC30-6B50-2713A17D2E90}"/>
              </a:ext>
            </a:extLst>
          </p:cNvPr>
          <p:cNvPicPr>
            <a:picLocks noChangeAspect="1"/>
          </p:cNvPicPr>
          <p:nvPr/>
        </p:nvPicPr>
        <p:blipFill>
          <a:blip r:embed="rId3"/>
          <a:stretch>
            <a:fillRect/>
          </a:stretch>
        </p:blipFill>
        <p:spPr>
          <a:xfrm>
            <a:off x="571500" y="2328388"/>
            <a:ext cx="7646300" cy="18714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18297" y="2225278"/>
            <a:ext cx="2107406" cy="207169"/>
          </a:xfrm>
          <a:prstGeom prst="rect">
            <a:avLst/>
          </a:prstGeom>
          <a:noFill/>
          <a:ln/>
        </p:spPr>
        <p:txBody>
          <a:bodyPr wrap="square" lIns="0" tIns="0" rIns="0" bIns="0" rtlCol="0" anchor="t">
            <a:spAutoFit/>
          </a:bodyPr>
          <a:lstStyle/>
          <a:p>
            <a:pPr marL="0" indent="0" algn="ctr">
              <a:buNone/>
            </a:pPr>
            <a:r>
              <a:rPr lang="en-US" sz="1200" b="1" kern="0" spc="4" dirty="0">
                <a:solidFill>
                  <a:srgbClr val="0055FF"/>
                </a:solidFill>
                <a:latin typeface="Inter Bold" pitchFamily="34" charset="0"/>
                <a:ea typeface="Inter Bold" pitchFamily="34" charset="-122"/>
                <a:cs typeface="Inter Bold" pitchFamily="34" charset="-120"/>
              </a:rPr>
              <a:t>SECTION 3</a:t>
            </a:r>
            <a:endParaRPr lang="en-US" sz="1200" dirty="0"/>
          </a:p>
        </p:txBody>
      </p:sp>
      <p:sp>
        <p:nvSpPr>
          <p:cNvPr id="4" name="Text 1"/>
          <p:cNvSpPr/>
          <p:nvPr/>
        </p:nvSpPr>
        <p:spPr>
          <a:xfrm>
            <a:off x="3518297" y="2503884"/>
            <a:ext cx="2107406" cy="414338"/>
          </a:xfrm>
          <a:prstGeom prst="rect">
            <a:avLst/>
          </a:prstGeom>
          <a:noFill/>
          <a:ln/>
        </p:spPr>
        <p:txBody>
          <a:bodyPr wrap="square" lIns="0" tIns="0" rIns="0" bIns="0" rtlCol="0" anchor="t">
            <a:spAutoFit/>
          </a:bodyPr>
          <a:lstStyle/>
          <a:p>
            <a:pPr marL="0" indent="0" algn="ctr">
              <a:buNone/>
            </a:pPr>
            <a:r>
              <a:rPr lang="en-US" sz="2450" b="1" dirty="0">
                <a:solidFill>
                  <a:srgbClr val="000000"/>
                </a:solidFill>
                <a:latin typeface="Inter Bold" pitchFamily="34" charset="0"/>
                <a:ea typeface="Inter Bold" pitchFamily="34" charset="-122"/>
                <a:cs typeface="Inter Bold" pitchFamily="34" charset="-120"/>
              </a:rPr>
              <a:t>Model Setup</a:t>
            </a:r>
            <a:endParaRPr lang="en-US" sz="2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571500" y="529475"/>
            <a:ext cx="8572500" cy="276999"/>
          </a:xfrm>
          <a:prstGeom prst="rect">
            <a:avLst/>
          </a:prstGeom>
          <a:noFill/>
          <a:ln/>
        </p:spPr>
        <p:txBody>
          <a:bodyPr wrap="square" lIns="0" tIns="0" rIns="0" bIns="0" rtlCol="0" anchor="t">
            <a:spAutoFit/>
          </a:bodyPr>
          <a:lstStyle/>
          <a:p>
            <a:pPr marL="0" indent="0" algn="l">
              <a:buNone/>
            </a:pPr>
            <a:r>
              <a:rPr lang="en-US" b="1" dirty="0">
                <a:solidFill>
                  <a:srgbClr val="000000"/>
                </a:solidFill>
                <a:latin typeface="Inter Bold" pitchFamily="34" charset="0"/>
                <a:ea typeface="Inter Bold" pitchFamily="34" charset="-122"/>
                <a:cs typeface="Inter Bold" pitchFamily="34" charset="-120"/>
              </a:rPr>
              <a:t>Forecasting Architecture and Parameters</a:t>
            </a:r>
            <a:endParaRPr lang="en-US" dirty="0"/>
          </a:p>
        </p:txBody>
      </p:sp>
      <p:sp>
        <p:nvSpPr>
          <p:cNvPr id="4" name="Text 1"/>
          <p:cNvSpPr/>
          <p:nvPr/>
        </p:nvSpPr>
        <p:spPr>
          <a:xfrm>
            <a:off x="443908" y="1172709"/>
            <a:ext cx="3000375" cy="169277"/>
          </a:xfrm>
          <a:prstGeom prst="rect">
            <a:avLst/>
          </a:prstGeom>
          <a:noFill/>
          <a:ln/>
        </p:spPr>
        <p:txBody>
          <a:bodyPr wrap="square" lIns="127508"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MODEL </a:t>
            </a:r>
            <a:r>
              <a:rPr lang="en-US" sz="1100" b="1" kern="0" spc="1" dirty="0">
                <a:solidFill>
                  <a:srgbClr val="0055FF"/>
                </a:solidFill>
                <a:latin typeface="Inter Bold" pitchFamily="34" charset="0"/>
                <a:ea typeface="Inter Bold" pitchFamily="34" charset="-122"/>
                <a:cs typeface="Inter Bold" pitchFamily="34" charset="-120"/>
              </a:rPr>
              <a:t>DESIGN</a:t>
            </a:r>
            <a:endParaRPr lang="en-US" sz="1100" dirty="0"/>
          </a:p>
        </p:txBody>
      </p:sp>
      <p:sp>
        <p:nvSpPr>
          <p:cNvPr id="5" name="Text 2"/>
          <p:cNvSpPr/>
          <p:nvPr/>
        </p:nvSpPr>
        <p:spPr>
          <a:xfrm>
            <a:off x="570682" y="1417797"/>
            <a:ext cx="3000375" cy="1862048"/>
          </a:xfrm>
          <a:prstGeom prst="rect">
            <a:avLst/>
          </a:prstGeom>
          <a:noFill/>
          <a:ln/>
        </p:spPr>
        <p:txBody>
          <a:bodyPr wrap="square" lIns="0" tIns="0" rIns="0" bIns="0" rtlCol="0" anchor="t">
            <a:spAutoFit/>
          </a:bodyPr>
          <a:lstStyle/>
          <a:p>
            <a:pPr marL="0" indent="0" algn="l">
              <a:buNone/>
            </a:pPr>
            <a:r>
              <a:rPr lang="en-US" sz="1100" b="1" dirty="0">
                <a:solidFill>
                  <a:srgbClr val="000000"/>
                </a:solidFill>
                <a:latin typeface="Inter Bold" pitchFamily="34" charset="0"/>
                <a:ea typeface="Inter Bold" pitchFamily="34" charset="-122"/>
                <a:cs typeface="Inter Bold" pitchFamily="34" charset="-120"/>
              </a:rPr>
              <a:t>Sliding Window</a:t>
            </a:r>
            <a:endParaRPr lang="en-US" sz="1100" b="1" dirty="0">
              <a:solidFill>
                <a:srgbClr val="000000"/>
              </a:solidFill>
              <a:latin typeface="Inter Bold" pitchFamily="34" charset="0"/>
              <a:ea typeface="Inter Bold" pitchFamily="34" charset="-122"/>
            </a:endParaRPr>
          </a:p>
          <a:p>
            <a:r>
              <a:rPr lang="en-US" sz="1100" dirty="0">
                <a:solidFill>
                  <a:srgbClr val="555555"/>
                </a:solidFill>
                <a:latin typeface="Inter" pitchFamily="34" charset="0"/>
                <a:ea typeface="Inter" pitchFamily="34" charset="-122"/>
                <a:cs typeface="Inter" pitchFamily="34" charset="-120"/>
              </a:rPr>
              <a:t>Each sample uses a </a:t>
            </a:r>
            <a:r>
              <a:rPr lang="en-US" sz="1100" b="1" dirty="0">
                <a:solidFill>
                  <a:srgbClr val="555555"/>
                </a:solidFill>
                <a:latin typeface="Inter Bold" pitchFamily="34" charset="0"/>
                <a:ea typeface="Inter Bold" pitchFamily="34" charset="-122"/>
                <a:cs typeface="Inter Bold" pitchFamily="34" charset="-120"/>
              </a:rPr>
              <a:t>24-hour input sequence</a:t>
            </a:r>
            <a:r>
              <a:rPr lang="en-US" sz="1100" dirty="0">
                <a:solidFill>
                  <a:srgbClr val="555555"/>
                </a:solidFill>
                <a:latin typeface="Inter" pitchFamily="34" charset="0"/>
                <a:ea typeface="Inter" pitchFamily="34" charset="-122"/>
                <a:cs typeface="Inter" pitchFamily="34" charset="-120"/>
              </a:rPr>
              <a:t> as a lag array to predict the single next-hour demand.</a:t>
            </a:r>
          </a:p>
          <a:p>
            <a:endParaRPr lang="en-US" sz="1100" dirty="0">
              <a:solidFill>
                <a:srgbClr val="555555"/>
              </a:solidFill>
              <a:latin typeface="Inter" pitchFamily="34" charset="0"/>
              <a:ea typeface="Inter" pitchFamily="34" charset="-122"/>
            </a:endParaRPr>
          </a:p>
          <a:p>
            <a:r>
              <a:rPr lang="en-US" sz="1100" b="1" dirty="0">
                <a:solidFill>
                  <a:srgbClr val="000000"/>
                </a:solidFill>
                <a:latin typeface="Inter Bold" pitchFamily="34" charset="0"/>
                <a:ea typeface="Inter Bold" pitchFamily="34" charset="-122"/>
                <a:cs typeface="Inter Bold" pitchFamily="34" charset="-120"/>
              </a:rPr>
              <a:t>Architectures</a:t>
            </a:r>
          </a:p>
          <a:p>
            <a:r>
              <a:rPr lang="en-US" sz="1100" dirty="0">
                <a:solidFill>
                  <a:srgbClr val="555555"/>
                </a:solidFill>
                <a:latin typeface="Inter" pitchFamily="34" charset="0"/>
                <a:ea typeface="Inter" pitchFamily="34" charset="-122"/>
                <a:cs typeface="Inter" pitchFamily="34" charset="-120"/>
              </a:rPr>
              <a:t>Comparison between models </a:t>
            </a:r>
            <a:r>
              <a:rPr lang="en-US" sz="1100" b="1" dirty="0">
                <a:solidFill>
                  <a:srgbClr val="555555"/>
                </a:solidFill>
                <a:latin typeface="Inter Bold" pitchFamily="34" charset="0"/>
                <a:ea typeface="Inter Bold" pitchFamily="34" charset="-122"/>
                <a:cs typeface="Inter Bold" pitchFamily="34" charset="-120"/>
              </a:rPr>
              <a:t>RNN</a:t>
            </a:r>
            <a:r>
              <a:rPr lang="en-US" sz="1100" dirty="0">
                <a:solidFill>
                  <a:srgbClr val="555555"/>
                </a:solidFill>
                <a:latin typeface="Inter" pitchFamily="34" charset="0"/>
                <a:ea typeface="Inter" pitchFamily="34" charset="-122"/>
                <a:cs typeface="Inter" pitchFamily="34" charset="-120"/>
              </a:rPr>
              <a:t> and </a:t>
            </a:r>
            <a:r>
              <a:rPr lang="en-US" sz="1100" b="1" dirty="0">
                <a:solidFill>
                  <a:srgbClr val="555555"/>
                </a:solidFill>
                <a:latin typeface="Inter Bold" pitchFamily="34" charset="0"/>
                <a:ea typeface="Inter Bold" pitchFamily="34" charset="-122"/>
                <a:cs typeface="Inter Bold" pitchFamily="34" charset="-120"/>
              </a:rPr>
              <a:t>LSTM</a:t>
            </a:r>
            <a:r>
              <a:rPr lang="en-US" sz="1100" dirty="0">
                <a:solidFill>
                  <a:srgbClr val="555555"/>
                </a:solidFill>
                <a:latin typeface="Inter" pitchFamily="34" charset="0"/>
                <a:ea typeface="Inter" pitchFamily="34" charset="-122"/>
                <a:cs typeface="Inter" pitchFamily="34" charset="-120"/>
              </a:rPr>
              <a:t> (baseline vs enriched features) to evaluate the model capability.</a:t>
            </a:r>
          </a:p>
          <a:p>
            <a:endParaRPr lang="en-US" sz="1100" dirty="0"/>
          </a:p>
          <a:p>
            <a:endParaRPr lang="en-US" sz="1100" dirty="0"/>
          </a:p>
          <a:p>
            <a:pPr marL="0" indent="0" algn="l">
              <a:buNone/>
            </a:pPr>
            <a:endParaRPr lang="en-US" sz="1100" dirty="0"/>
          </a:p>
        </p:txBody>
      </p:sp>
      <p:sp>
        <p:nvSpPr>
          <p:cNvPr id="7" name="Text 4"/>
          <p:cNvSpPr/>
          <p:nvPr/>
        </p:nvSpPr>
        <p:spPr>
          <a:xfrm>
            <a:off x="571500" y="2524367"/>
            <a:ext cx="3000375" cy="153888"/>
          </a:xfrm>
          <a:prstGeom prst="rect">
            <a:avLst/>
          </a:prstGeom>
          <a:noFill/>
          <a:ln/>
        </p:spPr>
        <p:txBody>
          <a:bodyPr wrap="square" lIns="0" tIns="0" rIns="0" bIns="0" rtlCol="0" anchor="t">
            <a:spAutoFit/>
          </a:bodyPr>
          <a:lstStyle/>
          <a:p>
            <a:pPr marL="0" indent="0" algn="l">
              <a:buNone/>
            </a:pPr>
            <a:endParaRPr lang="en-US" sz="1000" dirty="0"/>
          </a:p>
        </p:txBody>
      </p:sp>
      <p:sp>
        <p:nvSpPr>
          <p:cNvPr id="8" name="Text 5"/>
          <p:cNvSpPr/>
          <p:nvPr/>
        </p:nvSpPr>
        <p:spPr>
          <a:xfrm>
            <a:off x="571500" y="2819047"/>
            <a:ext cx="3000375" cy="172355"/>
          </a:xfrm>
          <a:prstGeom prst="rect">
            <a:avLst/>
          </a:prstGeom>
          <a:noFill/>
          <a:ln/>
        </p:spPr>
        <p:txBody>
          <a:bodyPr wrap="square" lIns="0" tIns="0" rIns="0" bIns="0" rtlCol="0" anchor="t">
            <a:spAutoFit/>
          </a:bodyPr>
          <a:lstStyle/>
          <a:p>
            <a:pPr marL="0" indent="0" algn="l">
              <a:lnSpc>
                <a:spcPct val="120000"/>
              </a:lnSpc>
              <a:buNone/>
            </a:pPr>
            <a:endParaRPr lang="en-US" sz="1000" dirty="0"/>
          </a:p>
        </p:txBody>
      </p:sp>
      <p:sp>
        <p:nvSpPr>
          <p:cNvPr id="11" name="Text 8"/>
          <p:cNvSpPr/>
          <p:nvPr/>
        </p:nvSpPr>
        <p:spPr>
          <a:xfrm>
            <a:off x="3857625" y="1170626"/>
            <a:ext cx="4714875" cy="169277"/>
          </a:xfrm>
          <a:prstGeom prst="rect">
            <a:avLst/>
          </a:prstGeom>
          <a:noFill/>
          <a:ln/>
        </p:spPr>
        <p:txBody>
          <a:bodyPr wrap="square" lIns="127508" tIns="0" rIns="0" bIns="0" rtlCol="0" anchor="t">
            <a:spAutoFit/>
          </a:bodyPr>
          <a:lstStyle/>
          <a:p>
            <a:pPr marL="0" indent="0" algn="l">
              <a:buNone/>
            </a:pPr>
            <a:r>
              <a:rPr lang="en-US" sz="1100" b="1" kern="0" spc="1" dirty="0">
                <a:solidFill>
                  <a:srgbClr val="0055FF"/>
                </a:solidFill>
                <a:latin typeface="Inter Bold" pitchFamily="34" charset="0"/>
                <a:ea typeface="Inter Bold" pitchFamily="34" charset="-122"/>
                <a:cs typeface="Inter Bold" pitchFamily="34" charset="-120"/>
              </a:rPr>
              <a:t>HYPERPARAMETERS</a:t>
            </a:r>
            <a:endParaRPr lang="en-US" sz="1100" dirty="0"/>
          </a:p>
        </p:txBody>
      </p:sp>
      <p:sp>
        <p:nvSpPr>
          <p:cNvPr id="12" name="Shape 9"/>
          <p:cNvSpPr/>
          <p:nvPr/>
        </p:nvSpPr>
        <p:spPr>
          <a:xfrm>
            <a:off x="3857625" y="1468878"/>
            <a:ext cx="1160413" cy="307181"/>
          </a:xfrm>
          <a:prstGeom prst="rect">
            <a:avLst/>
          </a:prstGeom>
          <a:solidFill>
            <a:srgbClr val="F8F9FA"/>
          </a:solidFill>
          <a:ln/>
        </p:spPr>
        <p:txBody>
          <a:bodyPr/>
          <a:lstStyle/>
          <a:p>
            <a:endParaRPr lang="en-US" sz="1000"/>
          </a:p>
        </p:txBody>
      </p:sp>
      <p:sp>
        <p:nvSpPr>
          <p:cNvPr id="13" name="Shape 10"/>
          <p:cNvSpPr/>
          <p:nvPr/>
        </p:nvSpPr>
        <p:spPr>
          <a:xfrm>
            <a:off x="3857625" y="1761772"/>
            <a:ext cx="1160413" cy="14288"/>
          </a:xfrm>
          <a:prstGeom prst="rect">
            <a:avLst/>
          </a:prstGeom>
          <a:solidFill>
            <a:srgbClr val="EEEEEE"/>
          </a:solidFill>
          <a:ln/>
        </p:spPr>
        <p:txBody>
          <a:bodyPr/>
          <a:lstStyle/>
          <a:p>
            <a:endParaRPr lang="en-US" sz="1000"/>
          </a:p>
        </p:txBody>
      </p:sp>
      <p:sp>
        <p:nvSpPr>
          <p:cNvPr id="14" name="Text 11"/>
          <p:cNvSpPr/>
          <p:nvPr/>
        </p:nvSpPr>
        <p:spPr>
          <a:xfrm>
            <a:off x="3857625" y="1442419"/>
            <a:ext cx="767261" cy="360099"/>
          </a:xfrm>
          <a:prstGeom prst="rect">
            <a:avLst/>
          </a:prstGeom>
          <a:noFill/>
          <a:ln/>
        </p:spPr>
        <p:txBody>
          <a:bodyPr wrap="none" lIns="102108" tIns="102108" rIns="102108" bIns="102108" rtlCol="0" anchor="ctr">
            <a:spAutoFit/>
          </a:bodyPr>
          <a:lstStyle/>
          <a:p>
            <a:pPr marL="0" indent="0" algn="l">
              <a:buNone/>
            </a:pPr>
            <a:r>
              <a:rPr lang="en-US" sz="1000" b="1" dirty="0">
                <a:solidFill>
                  <a:srgbClr val="000000"/>
                </a:solidFill>
                <a:latin typeface="Inter Bold" pitchFamily="34" charset="0"/>
                <a:ea typeface="Inter Bold" pitchFamily="34" charset="-122"/>
                <a:cs typeface="Inter Bold" pitchFamily="34" charset="-120"/>
              </a:rPr>
              <a:t>Parameter</a:t>
            </a:r>
            <a:endParaRPr lang="en-US" sz="1000" dirty="0"/>
          </a:p>
        </p:txBody>
      </p:sp>
      <p:sp>
        <p:nvSpPr>
          <p:cNvPr id="15" name="Shape 12"/>
          <p:cNvSpPr/>
          <p:nvPr/>
        </p:nvSpPr>
        <p:spPr>
          <a:xfrm>
            <a:off x="5018038" y="1468878"/>
            <a:ext cx="615590" cy="307181"/>
          </a:xfrm>
          <a:prstGeom prst="rect">
            <a:avLst/>
          </a:prstGeom>
          <a:solidFill>
            <a:srgbClr val="F8F9FA"/>
          </a:solidFill>
          <a:ln/>
        </p:spPr>
        <p:txBody>
          <a:bodyPr/>
          <a:lstStyle/>
          <a:p>
            <a:endParaRPr lang="en-US" sz="1000"/>
          </a:p>
        </p:txBody>
      </p:sp>
      <p:sp>
        <p:nvSpPr>
          <p:cNvPr id="16" name="Shape 13"/>
          <p:cNvSpPr/>
          <p:nvPr/>
        </p:nvSpPr>
        <p:spPr>
          <a:xfrm>
            <a:off x="5018038" y="1761772"/>
            <a:ext cx="615590" cy="14288"/>
          </a:xfrm>
          <a:prstGeom prst="rect">
            <a:avLst/>
          </a:prstGeom>
          <a:solidFill>
            <a:srgbClr val="EEEEEE"/>
          </a:solidFill>
          <a:ln/>
        </p:spPr>
        <p:txBody>
          <a:bodyPr/>
          <a:lstStyle/>
          <a:p>
            <a:endParaRPr lang="en-US" sz="1000"/>
          </a:p>
        </p:txBody>
      </p:sp>
      <p:sp>
        <p:nvSpPr>
          <p:cNvPr id="17" name="Text 14"/>
          <p:cNvSpPr/>
          <p:nvPr/>
        </p:nvSpPr>
        <p:spPr>
          <a:xfrm>
            <a:off x="5018038" y="1442419"/>
            <a:ext cx="509178" cy="360099"/>
          </a:xfrm>
          <a:prstGeom prst="rect">
            <a:avLst/>
          </a:prstGeom>
          <a:noFill/>
          <a:ln/>
        </p:spPr>
        <p:txBody>
          <a:bodyPr wrap="none" lIns="102108" tIns="102108" rIns="102108" bIns="102108" rtlCol="0" anchor="ctr">
            <a:spAutoFit/>
          </a:bodyPr>
          <a:lstStyle/>
          <a:p>
            <a:pPr marL="0" indent="0" algn="l">
              <a:buNone/>
            </a:pPr>
            <a:r>
              <a:rPr lang="en-US" sz="1000" b="1" dirty="0">
                <a:solidFill>
                  <a:srgbClr val="000000"/>
                </a:solidFill>
                <a:latin typeface="Inter Bold" pitchFamily="34" charset="0"/>
                <a:ea typeface="Inter Bold" pitchFamily="34" charset="-122"/>
                <a:cs typeface="Inter Bold" pitchFamily="34" charset="-120"/>
              </a:rPr>
              <a:t>Value</a:t>
            </a:r>
            <a:endParaRPr lang="en-US" sz="1000" dirty="0"/>
          </a:p>
        </p:txBody>
      </p:sp>
      <p:sp>
        <p:nvSpPr>
          <p:cNvPr id="18" name="Shape 15"/>
          <p:cNvSpPr/>
          <p:nvPr/>
        </p:nvSpPr>
        <p:spPr>
          <a:xfrm>
            <a:off x="5633628" y="1468878"/>
            <a:ext cx="2938872" cy="307181"/>
          </a:xfrm>
          <a:prstGeom prst="rect">
            <a:avLst/>
          </a:prstGeom>
          <a:solidFill>
            <a:srgbClr val="F8F9FA"/>
          </a:solidFill>
          <a:ln/>
        </p:spPr>
        <p:txBody>
          <a:bodyPr/>
          <a:lstStyle/>
          <a:p>
            <a:endParaRPr lang="en-US" sz="1000"/>
          </a:p>
        </p:txBody>
      </p:sp>
      <p:sp>
        <p:nvSpPr>
          <p:cNvPr id="19" name="Shape 16"/>
          <p:cNvSpPr/>
          <p:nvPr/>
        </p:nvSpPr>
        <p:spPr>
          <a:xfrm>
            <a:off x="5633628" y="1761772"/>
            <a:ext cx="2938872" cy="14288"/>
          </a:xfrm>
          <a:prstGeom prst="rect">
            <a:avLst/>
          </a:prstGeom>
          <a:solidFill>
            <a:srgbClr val="EEEEEE"/>
          </a:solidFill>
          <a:ln/>
        </p:spPr>
        <p:txBody>
          <a:bodyPr/>
          <a:lstStyle/>
          <a:p>
            <a:endParaRPr lang="en-US" sz="1000"/>
          </a:p>
        </p:txBody>
      </p:sp>
      <p:sp>
        <p:nvSpPr>
          <p:cNvPr id="20" name="Text 17"/>
          <p:cNvSpPr/>
          <p:nvPr/>
        </p:nvSpPr>
        <p:spPr>
          <a:xfrm>
            <a:off x="5633628" y="1442419"/>
            <a:ext cx="2938872" cy="360099"/>
          </a:xfrm>
          <a:prstGeom prst="rect">
            <a:avLst/>
          </a:prstGeom>
          <a:noFill/>
          <a:ln/>
        </p:spPr>
        <p:txBody>
          <a:bodyPr wrap="square" lIns="102108" tIns="102108" rIns="102108" bIns="102108" rtlCol="0" anchor="ctr">
            <a:spAutoFit/>
          </a:bodyPr>
          <a:lstStyle/>
          <a:p>
            <a:pPr marL="0" indent="0" algn="l">
              <a:buNone/>
            </a:pPr>
            <a:r>
              <a:rPr lang="en-US" sz="1000" b="1" dirty="0">
                <a:solidFill>
                  <a:srgbClr val="000000"/>
                </a:solidFill>
                <a:latin typeface="Inter Bold" pitchFamily="34" charset="0"/>
                <a:ea typeface="Inter Bold" pitchFamily="34" charset="-122"/>
                <a:cs typeface="Inter Bold" pitchFamily="34" charset="-120"/>
              </a:rPr>
              <a:t>Reason</a:t>
            </a:r>
            <a:endParaRPr lang="en-US" sz="1000" dirty="0"/>
          </a:p>
        </p:txBody>
      </p:sp>
      <p:sp>
        <p:nvSpPr>
          <p:cNvPr id="21" name="Text 18"/>
          <p:cNvSpPr/>
          <p:nvPr/>
        </p:nvSpPr>
        <p:spPr>
          <a:xfrm>
            <a:off x="3857625" y="1749600"/>
            <a:ext cx="826573"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0055FF"/>
                </a:solidFill>
                <a:latin typeface="monospace" pitchFamily="34" charset="0"/>
                <a:ea typeface="monospace" pitchFamily="34" charset="-122"/>
                <a:cs typeface="monospace" pitchFamily="34" charset="-120"/>
              </a:rPr>
              <a:t>hidden_size</a:t>
            </a:r>
            <a:endParaRPr lang="en-US" sz="1000" dirty="0"/>
          </a:p>
        </p:txBody>
      </p:sp>
      <p:sp>
        <p:nvSpPr>
          <p:cNvPr id="22" name="Text 19"/>
          <p:cNvSpPr/>
          <p:nvPr/>
        </p:nvSpPr>
        <p:spPr>
          <a:xfrm>
            <a:off x="5018038" y="1749600"/>
            <a:ext cx="337657"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64</a:t>
            </a:r>
            <a:endParaRPr lang="en-US" sz="1000" dirty="0"/>
          </a:p>
        </p:txBody>
      </p:sp>
      <p:sp>
        <p:nvSpPr>
          <p:cNvPr id="23" name="Text 20"/>
          <p:cNvSpPr/>
          <p:nvPr/>
        </p:nvSpPr>
        <p:spPr>
          <a:xfrm>
            <a:off x="5633628" y="1749600"/>
            <a:ext cx="2938872" cy="360099"/>
          </a:xfrm>
          <a:prstGeom prst="rect">
            <a:avLst/>
          </a:prstGeom>
          <a:noFill/>
          <a:ln/>
        </p:spPr>
        <p:txBody>
          <a:bodyPr wrap="square" lIns="102108" tIns="102108" rIns="102108" bIns="102108" rtlCol="0" anchor="ctr">
            <a:spAutoFit/>
          </a:bodyPr>
          <a:lstStyle/>
          <a:p>
            <a:pPr marL="0" indent="0" algn="l">
              <a:buNone/>
            </a:pPr>
            <a:r>
              <a:rPr lang="en-US" sz="1000" dirty="0">
                <a:solidFill>
                  <a:srgbClr val="666666"/>
                </a:solidFill>
                <a:latin typeface="Inter" pitchFamily="34" charset="0"/>
                <a:ea typeface="Inter" pitchFamily="34" charset="-122"/>
                <a:cs typeface="Inter" pitchFamily="34" charset="-120"/>
              </a:rPr>
              <a:t>Reasonable default for model to remember</a:t>
            </a:r>
            <a:endParaRPr lang="en-US" sz="1000" dirty="0"/>
          </a:p>
        </p:txBody>
      </p:sp>
      <p:sp>
        <p:nvSpPr>
          <p:cNvPr id="24" name="Text 21"/>
          <p:cNvSpPr/>
          <p:nvPr/>
        </p:nvSpPr>
        <p:spPr>
          <a:xfrm>
            <a:off x="3857625" y="2072855"/>
            <a:ext cx="813749"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0055FF"/>
                </a:solidFill>
                <a:latin typeface="monospace" pitchFamily="34" charset="0"/>
                <a:ea typeface="monospace" pitchFamily="34" charset="-122"/>
                <a:cs typeface="monospace" pitchFamily="34" charset="-120"/>
              </a:rPr>
              <a:t>num_layers</a:t>
            </a:r>
            <a:endParaRPr lang="en-US" sz="1000" dirty="0"/>
          </a:p>
        </p:txBody>
      </p:sp>
      <p:sp>
        <p:nvSpPr>
          <p:cNvPr id="25" name="Text 22"/>
          <p:cNvSpPr/>
          <p:nvPr/>
        </p:nvSpPr>
        <p:spPr>
          <a:xfrm>
            <a:off x="5018038" y="2072855"/>
            <a:ext cx="271934"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3</a:t>
            </a:r>
            <a:endParaRPr lang="en-US" sz="1000" dirty="0"/>
          </a:p>
        </p:txBody>
      </p:sp>
      <p:sp>
        <p:nvSpPr>
          <p:cNvPr id="26" name="Text 23"/>
          <p:cNvSpPr/>
          <p:nvPr/>
        </p:nvSpPr>
        <p:spPr>
          <a:xfrm>
            <a:off x="5633628" y="2072855"/>
            <a:ext cx="2938872" cy="360099"/>
          </a:xfrm>
          <a:prstGeom prst="rect">
            <a:avLst/>
          </a:prstGeom>
          <a:noFill/>
          <a:ln/>
        </p:spPr>
        <p:txBody>
          <a:bodyPr wrap="square" lIns="102108" tIns="102108" rIns="102108" bIns="102108" rtlCol="0" anchor="ctr">
            <a:spAutoFit/>
          </a:bodyPr>
          <a:lstStyle/>
          <a:p>
            <a:pPr marL="0" indent="0" algn="l">
              <a:buNone/>
            </a:pPr>
            <a:r>
              <a:rPr lang="en-US" sz="1000" dirty="0">
                <a:solidFill>
                  <a:srgbClr val="666666"/>
                </a:solidFill>
                <a:latin typeface="Inter" pitchFamily="34" charset="0"/>
                <a:ea typeface="Inter" pitchFamily="34" charset="-122"/>
                <a:cs typeface="Inter" pitchFamily="34" charset="-120"/>
              </a:rPr>
              <a:t>Depth allows model to learn temporal features</a:t>
            </a:r>
            <a:endParaRPr lang="en-US" sz="1000" dirty="0"/>
          </a:p>
        </p:txBody>
      </p:sp>
      <p:sp>
        <p:nvSpPr>
          <p:cNvPr id="27" name="Text 24"/>
          <p:cNvSpPr/>
          <p:nvPr/>
        </p:nvSpPr>
        <p:spPr>
          <a:xfrm>
            <a:off x="3857625" y="2397896"/>
            <a:ext cx="631007"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0055FF"/>
                </a:solidFill>
                <a:latin typeface="monospace" pitchFamily="34" charset="0"/>
                <a:ea typeface="monospace" pitchFamily="34" charset="-122"/>
                <a:cs typeface="monospace" pitchFamily="34" charset="-120"/>
              </a:rPr>
              <a:t>dropout</a:t>
            </a:r>
            <a:endParaRPr lang="en-US" sz="1000" dirty="0"/>
          </a:p>
        </p:txBody>
      </p:sp>
      <p:sp>
        <p:nvSpPr>
          <p:cNvPr id="28" name="Text 25"/>
          <p:cNvSpPr/>
          <p:nvPr/>
        </p:nvSpPr>
        <p:spPr>
          <a:xfrm>
            <a:off x="5018038" y="2397896"/>
            <a:ext cx="435440"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0.15</a:t>
            </a:r>
            <a:endParaRPr lang="en-US" sz="1000" dirty="0"/>
          </a:p>
        </p:txBody>
      </p:sp>
      <p:sp>
        <p:nvSpPr>
          <p:cNvPr id="29" name="Text 26"/>
          <p:cNvSpPr/>
          <p:nvPr/>
        </p:nvSpPr>
        <p:spPr>
          <a:xfrm>
            <a:off x="5633628" y="2397896"/>
            <a:ext cx="2938872" cy="360099"/>
          </a:xfrm>
          <a:prstGeom prst="rect">
            <a:avLst/>
          </a:prstGeom>
          <a:noFill/>
          <a:ln/>
        </p:spPr>
        <p:txBody>
          <a:bodyPr wrap="square" lIns="102108" tIns="102108" rIns="102108" bIns="102108" rtlCol="0" anchor="ctr">
            <a:spAutoFit/>
          </a:bodyPr>
          <a:lstStyle/>
          <a:p>
            <a:pPr marL="0" indent="0" algn="l">
              <a:buNone/>
            </a:pPr>
            <a:r>
              <a:rPr lang="en-US" sz="1000" dirty="0">
                <a:solidFill>
                  <a:srgbClr val="666666"/>
                </a:solidFill>
                <a:latin typeface="Inter" pitchFamily="34" charset="0"/>
                <a:ea typeface="Inter" pitchFamily="34" charset="-122"/>
                <a:cs typeface="Inter" pitchFamily="34" charset="-120"/>
              </a:rPr>
              <a:t>Light regularization for large data</a:t>
            </a:r>
            <a:endParaRPr lang="en-US" sz="1000" dirty="0"/>
          </a:p>
        </p:txBody>
      </p:sp>
      <p:sp>
        <p:nvSpPr>
          <p:cNvPr id="30" name="Text 27"/>
          <p:cNvSpPr/>
          <p:nvPr/>
        </p:nvSpPr>
        <p:spPr>
          <a:xfrm>
            <a:off x="3857625" y="2722936"/>
            <a:ext cx="704745"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0055FF"/>
                </a:solidFill>
                <a:latin typeface="monospace" pitchFamily="34" charset="0"/>
                <a:ea typeface="monospace" pitchFamily="34" charset="-122"/>
                <a:cs typeface="monospace" pitchFamily="34" charset="-120"/>
              </a:rPr>
              <a:t>optimizer</a:t>
            </a:r>
            <a:endParaRPr lang="en-US" sz="1000" dirty="0"/>
          </a:p>
        </p:txBody>
      </p:sp>
      <p:sp>
        <p:nvSpPr>
          <p:cNvPr id="31" name="Text 28"/>
          <p:cNvSpPr/>
          <p:nvPr/>
        </p:nvSpPr>
        <p:spPr>
          <a:xfrm>
            <a:off x="5018038" y="2722936"/>
            <a:ext cx="510781"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Adam</a:t>
            </a:r>
            <a:endParaRPr lang="en-US" sz="1000" dirty="0"/>
          </a:p>
        </p:txBody>
      </p:sp>
      <p:sp>
        <p:nvSpPr>
          <p:cNvPr id="32" name="Text 29"/>
          <p:cNvSpPr/>
          <p:nvPr/>
        </p:nvSpPr>
        <p:spPr>
          <a:xfrm>
            <a:off x="5633628" y="2722936"/>
            <a:ext cx="2938872" cy="360099"/>
          </a:xfrm>
          <a:prstGeom prst="rect">
            <a:avLst/>
          </a:prstGeom>
          <a:noFill/>
          <a:ln/>
        </p:spPr>
        <p:txBody>
          <a:bodyPr wrap="square" lIns="102108" tIns="102108" rIns="102108" bIns="102108" rtlCol="0" anchor="ctr">
            <a:spAutoFit/>
          </a:bodyPr>
          <a:lstStyle/>
          <a:p>
            <a:pPr marL="0" indent="0" algn="l">
              <a:buNone/>
            </a:pPr>
            <a:r>
              <a:rPr lang="en-US" sz="1000" dirty="0">
                <a:solidFill>
                  <a:srgbClr val="666666"/>
                </a:solidFill>
                <a:latin typeface="Inter" pitchFamily="34" charset="0"/>
                <a:ea typeface="Inter" pitchFamily="34" charset="-122"/>
                <a:cs typeface="Inter" pitchFamily="34" charset="-120"/>
              </a:rPr>
              <a:t>Adaptive learning rates, fast convergence</a:t>
            </a:r>
            <a:endParaRPr lang="en-US" sz="1000" dirty="0"/>
          </a:p>
        </p:txBody>
      </p:sp>
      <p:sp>
        <p:nvSpPr>
          <p:cNvPr id="33" name="Text 30"/>
          <p:cNvSpPr/>
          <p:nvPr/>
        </p:nvSpPr>
        <p:spPr>
          <a:xfrm>
            <a:off x="3857625" y="3047977"/>
            <a:ext cx="595741"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0055FF"/>
                </a:solidFill>
                <a:latin typeface="monospace" pitchFamily="34" charset="0"/>
                <a:ea typeface="monospace" pitchFamily="34" charset="-122"/>
                <a:cs typeface="monospace" pitchFamily="34" charset="-120"/>
              </a:rPr>
              <a:t>initial lr</a:t>
            </a:r>
            <a:endParaRPr lang="en-US" sz="1000" dirty="0"/>
          </a:p>
        </p:txBody>
      </p:sp>
      <p:sp>
        <p:nvSpPr>
          <p:cNvPr id="34" name="Text 31"/>
          <p:cNvSpPr/>
          <p:nvPr/>
        </p:nvSpPr>
        <p:spPr>
          <a:xfrm>
            <a:off x="5018038" y="3047977"/>
            <a:ext cx="440249"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1e-3</a:t>
            </a:r>
            <a:endParaRPr lang="en-US" sz="1000" dirty="0"/>
          </a:p>
        </p:txBody>
      </p:sp>
      <p:sp>
        <p:nvSpPr>
          <p:cNvPr id="35" name="Text 32"/>
          <p:cNvSpPr/>
          <p:nvPr/>
        </p:nvSpPr>
        <p:spPr>
          <a:xfrm>
            <a:off x="5633628" y="3047977"/>
            <a:ext cx="2938872" cy="360099"/>
          </a:xfrm>
          <a:prstGeom prst="rect">
            <a:avLst/>
          </a:prstGeom>
          <a:noFill/>
          <a:ln/>
        </p:spPr>
        <p:txBody>
          <a:bodyPr wrap="square" lIns="102108" tIns="102108" rIns="102108" bIns="102108" rtlCol="0" anchor="ctr">
            <a:spAutoFit/>
          </a:bodyPr>
          <a:lstStyle/>
          <a:p>
            <a:pPr marL="0" indent="0" algn="l">
              <a:buNone/>
            </a:pPr>
            <a:r>
              <a:rPr lang="en-US" sz="1000" dirty="0">
                <a:solidFill>
                  <a:srgbClr val="666666"/>
                </a:solidFill>
                <a:latin typeface="Inter" pitchFamily="34" charset="0"/>
                <a:ea typeface="Inter" pitchFamily="34" charset="-122"/>
                <a:cs typeface="Inter" pitchFamily="34" charset="-120"/>
              </a:rPr>
              <a:t>Standard default start point</a:t>
            </a:r>
            <a:endParaRPr lang="en-US" sz="1000" dirty="0"/>
          </a:p>
        </p:txBody>
      </p:sp>
      <p:sp>
        <p:nvSpPr>
          <p:cNvPr id="36" name="Text 33"/>
          <p:cNvSpPr/>
          <p:nvPr/>
        </p:nvSpPr>
        <p:spPr>
          <a:xfrm>
            <a:off x="3857625" y="3373018"/>
            <a:ext cx="576504"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0055FF"/>
                </a:solidFill>
                <a:latin typeface="monospace" pitchFamily="34" charset="0"/>
                <a:ea typeface="monospace" pitchFamily="34" charset="-122"/>
                <a:cs typeface="monospace" pitchFamily="34" charset="-120"/>
              </a:rPr>
              <a:t>epochs</a:t>
            </a:r>
            <a:endParaRPr lang="en-US" sz="1000" dirty="0"/>
          </a:p>
        </p:txBody>
      </p:sp>
      <p:sp>
        <p:nvSpPr>
          <p:cNvPr id="37" name="Text 34"/>
          <p:cNvSpPr/>
          <p:nvPr/>
        </p:nvSpPr>
        <p:spPr>
          <a:xfrm>
            <a:off x="5018038" y="3373018"/>
            <a:ext cx="337657"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30</a:t>
            </a:r>
            <a:endParaRPr lang="en-US" sz="1000" dirty="0"/>
          </a:p>
        </p:txBody>
      </p:sp>
      <p:sp>
        <p:nvSpPr>
          <p:cNvPr id="38" name="Text 35"/>
          <p:cNvSpPr/>
          <p:nvPr/>
        </p:nvSpPr>
        <p:spPr>
          <a:xfrm>
            <a:off x="5633628" y="3373018"/>
            <a:ext cx="2938872" cy="360099"/>
          </a:xfrm>
          <a:prstGeom prst="rect">
            <a:avLst/>
          </a:prstGeom>
          <a:noFill/>
          <a:ln/>
        </p:spPr>
        <p:txBody>
          <a:bodyPr wrap="square" lIns="102108" tIns="102108" rIns="102108" bIns="102108" rtlCol="0" anchor="ctr">
            <a:spAutoFit/>
          </a:bodyPr>
          <a:lstStyle/>
          <a:p>
            <a:pPr marL="0" indent="0" algn="l">
              <a:buNone/>
            </a:pPr>
            <a:r>
              <a:rPr lang="en-US" sz="1000" dirty="0">
                <a:solidFill>
                  <a:srgbClr val="666666"/>
                </a:solidFill>
                <a:latin typeface="Inter" pitchFamily="34" charset="0"/>
                <a:ea typeface="Inter" pitchFamily="34" charset="-122"/>
                <a:cs typeface="Inter" pitchFamily="34" charset="-120"/>
              </a:rPr>
              <a:t>Sufficient for convergence on this dataset</a:t>
            </a:r>
            <a:endParaRPr lang="en-US" sz="1000" dirty="0"/>
          </a:p>
        </p:txBody>
      </p:sp>
      <p:sp>
        <p:nvSpPr>
          <p:cNvPr id="39" name="Text 36"/>
          <p:cNvSpPr/>
          <p:nvPr/>
        </p:nvSpPr>
        <p:spPr>
          <a:xfrm>
            <a:off x="3857625" y="3698058"/>
            <a:ext cx="757643"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0055FF"/>
                </a:solidFill>
                <a:latin typeface="monospace" pitchFamily="34" charset="0"/>
                <a:ea typeface="monospace" pitchFamily="34" charset="-122"/>
                <a:cs typeface="monospace" pitchFamily="34" charset="-120"/>
              </a:rPr>
              <a:t>batch_size</a:t>
            </a:r>
            <a:endParaRPr lang="en-US" sz="1000" dirty="0"/>
          </a:p>
        </p:txBody>
      </p:sp>
      <p:sp>
        <p:nvSpPr>
          <p:cNvPr id="40" name="Text 37"/>
          <p:cNvSpPr/>
          <p:nvPr/>
        </p:nvSpPr>
        <p:spPr>
          <a:xfrm>
            <a:off x="5018038" y="3698058"/>
            <a:ext cx="403380" cy="360099"/>
          </a:xfrm>
          <a:prstGeom prst="rect">
            <a:avLst/>
          </a:prstGeom>
          <a:noFill/>
          <a:ln/>
        </p:spPr>
        <p:txBody>
          <a:bodyPr wrap="none" lIns="102108" tIns="102108" rIns="102108" bIns="102108"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512</a:t>
            </a:r>
            <a:endParaRPr lang="en-US" sz="1000" dirty="0"/>
          </a:p>
        </p:txBody>
      </p:sp>
      <p:sp>
        <p:nvSpPr>
          <p:cNvPr id="41" name="Text 38"/>
          <p:cNvSpPr/>
          <p:nvPr/>
        </p:nvSpPr>
        <p:spPr>
          <a:xfrm>
            <a:off x="5633628" y="3698058"/>
            <a:ext cx="2938872" cy="360099"/>
          </a:xfrm>
          <a:prstGeom prst="rect">
            <a:avLst/>
          </a:prstGeom>
          <a:noFill/>
          <a:ln/>
        </p:spPr>
        <p:txBody>
          <a:bodyPr wrap="square" lIns="102108" tIns="102108" rIns="102108" bIns="102108" rtlCol="0" anchor="ctr">
            <a:spAutoFit/>
          </a:bodyPr>
          <a:lstStyle/>
          <a:p>
            <a:pPr marL="0" indent="0" algn="l">
              <a:buNone/>
            </a:pPr>
            <a:r>
              <a:rPr lang="en-US" sz="1000" dirty="0">
                <a:solidFill>
                  <a:srgbClr val="666666"/>
                </a:solidFill>
                <a:latin typeface="Inter" pitchFamily="34" charset="0"/>
                <a:ea typeface="Inter" pitchFamily="34" charset="-122"/>
              </a:rPr>
              <a:t>Good for current data size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571500" y="529475"/>
            <a:ext cx="8572500" cy="31253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Training and Validation Loss Curves</a:t>
            </a:r>
            <a:endParaRPr lang="en-US" sz="1800" dirty="0"/>
          </a:p>
        </p:txBody>
      </p:sp>
      <p:pic>
        <p:nvPicPr>
          <p:cNvPr id="15" name="Picture 14">
            <a:extLst>
              <a:ext uri="{FF2B5EF4-FFF2-40B4-BE49-F238E27FC236}">
                <a16:creationId xmlns:a16="http://schemas.microsoft.com/office/drawing/2014/main" id="{6E12EAA8-5E8D-A9C7-B455-C2AE7DC0CFA9}"/>
              </a:ext>
            </a:extLst>
          </p:cNvPr>
          <p:cNvPicPr>
            <a:picLocks noChangeAspect="1"/>
          </p:cNvPicPr>
          <p:nvPr/>
        </p:nvPicPr>
        <p:blipFill>
          <a:blip r:embed="rId3"/>
          <a:stretch>
            <a:fillRect/>
          </a:stretch>
        </p:blipFill>
        <p:spPr>
          <a:xfrm>
            <a:off x="1160689" y="842014"/>
            <a:ext cx="7014483" cy="42577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1910953" y="2225278"/>
            <a:ext cx="5322094" cy="207169"/>
          </a:xfrm>
          <a:prstGeom prst="rect">
            <a:avLst/>
          </a:prstGeom>
          <a:noFill/>
          <a:ln/>
        </p:spPr>
        <p:txBody>
          <a:bodyPr wrap="square" lIns="0" tIns="0" rIns="0" bIns="0" rtlCol="0" anchor="t">
            <a:spAutoFit/>
          </a:bodyPr>
          <a:lstStyle/>
          <a:p>
            <a:pPr marL="0" indent="0" algn="ctr">
              <a:buNone/>
            </a:pPr>
            <a:r>
              <a:rPr lang="en-US" sz="1200" b="1" kern="0" spc="4" dirty="0">
                <a:solidFill>
                  <a:srgbClr val="0055FF"/>
                </a:solidFill>
                <a:latin typeface="Inter Bold" pitchFamily="34" charset="0"/>
                <a:ea typeface="Inter Bold" pitchFamily="34" charset="-122"/>
                <a:cs typeface="Inter Bold" pitchFamily="34" charset="-120"/>
              </a:rPr>
              <a:t>SECTION 4</a:t>
            </a:r>
            <a:endParaRPr lang="en-US" sz="1200" dirty="0"/>
          </a:p>
        </p:txBody>
      </p:sp>
      <p:sp>
        <p:nvSpPr>
          <p:cNvPr id="4" name="Text 1"/>
          <p:cNvSpPr/>
          <p:nvPr/>
        </p:nvSpPr>
        <p:spPr>
          <a:xfrm>
            <a:off x="1910953" y="2503884"/>
            <a:ext cx="5322094" cy="414338"/>
          </a:xfrm>
          <a:prstGeom prst="rect">
            <a:avLst/>
          </a:prstGeom>
          <a:noFill/>
          <a:ln/>
        </p:spPr>
        <p:txBody>
          <a:bodyPr wrap="square" lIns="0" tIns="0" rIns="0" bIns="0" rtlCol="0" anchor="t">
            <a:spAutoFit/>
          </a:bodyPr>
          <a:lstStyle/>
          <a:p>
            <a:pPr marL="0" indent="0" algn="ctr">
              <a:buNone/>
            </a:pPr>
            <a:r>
              <a:rPr lang="en-US" sz="2450" b="1" dirty="0">
                <a:solidFill>
                  <a:srgbClr val="000000"/>
                </a:solidFill>
                <a:latin typeface="Inter Bold" pitchFamily="34" charset="0"/>
                <a:ea typeface="Inter Bold" pitchFamily="34" charset="-122"/>
                <a:cs typeface="Inter Bold" pitchFamily="34" charset="-120"/>
              </a:rPr>
              <a:t>Results and Output Comparison</a:t>
            </a:r>
            <a:endParaRPr lang="en-US" sz="2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438150" y="224675"/>
            <a:ext cx="8572500" cy="27699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Forecast vs Actuals</a:t>
            </a:r>
            <a:endParaRPr lang="en-US" sz="1800" dirty="0"/>
          </a:p>
        </p:txBody>
      </p:sp>
      <p:pic>
        <p:nvPicPr>
          <p:cNvPr id="15" name="Picture 14">
            <a:extLst>
              <a:ext uri="{FF2B5EF4-FFF2-40B4-BE49-F238E27FC236}">
                <a16:creationId xmlns:a16="http://schemas.microsoft.com/office/drawing/2014/main" id="{91BED996-99E5-4E45-9C1E-68651F55DC63}"/>
              </a:ext>
            </a:extLst>
          </p:cNvPr>
          <p:cNvPicPr>
            <a:picLocks noChangeAspect="1"/>
          </p:cNvPicPr>
          <p:nvPr/>
        </p:nvPicPr>
        <p:blipFill>
          <a:blip r:embed="rId3"/>
          <a:srcRect t="4368"/>
          <a:stretch>
            <a:fillRect/>
          </a:stretch>
        </p:blipFill>
        <p:spPr>
          <a:xfrm>
            <a:off x="3295650" y="139314"/>
            <a:ext cx="4991100" cy="486487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571500" y="409462"/>
            <a:ext cx="8572500" cy="31253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Model Performance Metrics (Test Set)</a:t>
            </a:r>
            <a:endParaRPr lang="en-US" sz="1800" dirty="0"/>
          </a:p>
        </p:txBody>
      </p:sp>
      <p:sp>
        <p:nvSpPr>
          <p:cNvPr id="4" name="Text 1"/>
          <p:cNvSpPr/>
          <p:nvPr/>
        </p:nvSpPr>
        <p:spPr>
          <a:xfrm>
            <a:off x="618655" y="721407"/>
            <a:ext cx="2835232" cy="411395"/>
          </a:xfrm>
          <a:prstGeom prst="rect">
            <a:avLst/>
          </a:prstGeom>
          <a:noFill/>
          <a:ln/>
        </p:spPr>
        <p:txBody>
          <a:bodyPr wrap="square" lIns="127508" tIns="127508" rIns="127508" bIns="127508" rtlCol="0" anchor="ctr">
            <a:spAutoFit/>
          </a:bodyPr>
          <a:lstStyle/>
          <a:p>
            <a:pPr marL="0" indent="0" algn="l">
              <a:buNone/>
            </a:pPr>
            <a:r>
              <a:rPr lang="en-US" sz="1000" b="1" kern="0" spc="1" dirty="0">
                <a:solidFill>
                  <a:srgbClr val="000000"/>
                </a:solidFill>
                <a:latin typeface="Inter Bold" pitchFamily="34" charset="0"/>
                <a:ea typeface="Inter Bold" pitchFamily="34" charset="-122"/>
                <a:cs typeface="Inter Bold" pitchFamily="34" charset="-120"/>
              </a:rPr>
              <a:t>MODEL CONFIGURATION</a:t>
            </a:r>
            <a:endParaRPr lang="en-US" sz="1000" dirty="0"/>
          </a:p>
        </p:txBody>
      </p:sp>
      <p:sp>
        <p:nvSpPr>
          <p:cNvPr id="5" name="Text 2"/>
          <p:cNvSpPr/>
          <p:nvPr/>
        </p:nvSpPr>
        <p:spPr>
          <a:xfrm>
            <a:off x="3590088" y="855625"/>
            <a:ext cx="308290" cy="153888"/>
          </a:xfrm>
          <a:prstGeom prst="rect">
            <a:avLst/>
          </a:prstGeom>
          <a:noFill/>
          <a:ln/>
        </p:spPr>
        <p:txBody>
          <a:bodyPr wrap="none" lIns="0" tIns="0" rIns="0" bIns="0" rtlCol="0" anchor="t">
            <a:spAutoFit/>
          </a:bodyPr>
          <a:lstStyle/>
          <a:p>
            <a:pPr marL="0" indent="0" algn="l">
              <a:buNone/>
            </a:pPr>
            <a:r>
              <a:rPr lang="en-US" sz="1000" b="1" kern="0" spc="1" dirty="0">
                <a:solidFill>
                  <a:srgbClr val="000000"/>
                </a:solidFill>
                <a:latin typeface="Inter Bold" pitchFamily="34" charset="0"/>
                <a:ea typeface="Inter Bold" pitchFamily="34" charset="-122"/>
                <a:cs typeface="Inter Bold" pitchFamily="34" charset="-120"/>
              </a:rPr>
              <a:t>RMSE</a:t>
            </a:r>
            <a:endParaRPr lang="en-US" sz="1000" dirty="0"/>
          </a:p>
        </p:txBody>
      </p:sp>
      <p:sp>
        <p:nvSpPr>
          <p:cNvPr id="6" name="Text 3"/>
          <p:cNvSpPr/>
          <p:nvPr/>
        </p:nvSpPr>
        <p:spPr>
          <a:xfrm>
            <a:off x="3959777" y="855625"/>
            <a:ext cx="65" cy="153888"/>
          </a:xfrm>
          <a:prstGeom prst="rect">
            <a:avLst/>
          </a:prstGeom>
          <a:noFill/>
          <a:ln/>
        </p:spPr>
        <p:txBody>
          <a:bodyPr wrap="none" lIns="0" tIns="0" rIns="0" bIns="0" rtlCol="0" anchor="t">
            <a:spAutoFit/>
          </a:bodyPr>
          <a:lstStyle/>
          <a:p>
            <a:pPr marL="0" indent="0" algn="l">
              <a:buNone/>
            </a:pPr>
            <a:endParaRPr lang="en-US" sz="1000" dirty="0"/>
          </a:p>
        </p:txBody>
      </p:sp>
      <p:sp>
        <p:nvSpPr>
          <p:cNvPr id="7" name="Text 4"/>
          <p:cNvSpPr/>
          <p:nvPr/>
        </p:nvSpPr>
        <p:spPr>
          <a:xfrm>
            <a:off x="4947958" y="855625"/>
            <a:ext cx="252057" cy="153888"/>
          </a:xfrm>
          <a:prstGeom prst="rect">
            <a:avLst/>
          </a:prstGeom>
          <a:noFill/>
          <a:ln/>
        </p:spPr>
        <p:txBody>
          <a:bodyPr wrap="none" lIns="0" tIns="0" rIns="0" bIns="0" rtlCol="0" anchor="t">
            <a:spAutoFit/>
          </a:bodyPr>
          <a:lstStyle/>
          <a:p>
            <a:pPr marL="0" indent="0" algn="l">
              <a:buNone/>
            </a:pPr>
            <a:r>
              <a:rPr lang="en-US" sz="1000" b="1" kern="0" spc="1" dirty="0">
                <a:solidFill>
                  <a:srgbClr val="000000"/>
                </a:solidFill>
                <a:latin typeface="Inter Bold" pitchFamily="34" charset="0"/>
                <a:ea typeface="Inter Bold" pitchFamily="34" charset="-122"/>
                <a:cs typeface="Inter Bold" pitchFamily="34" charset="-120"/>
              </a:rPr>
              <a:t>MAE</a:t>
            </a:r>
            <a:endParaRPr lang="en-US" sz="1000" dirty="0"/>
          </a:p>
        </p:txBody>
      </p:sp>
      <p:sp>
        <p:nvSpPr>
          <p:cNvPr id="9" name="Text 6"/>
          <p:cNvSpPr/>
          <p:nvPr/>
        </p:nvSpPr>
        <p:spPr>
          <a:xfrm>
            <a:off x="6208244" y="855625"/>
            <a:ext cx="115673" cy="153888"/>
          </a:xfrm>
          <a:prstGeom prst="rect">
            <a:avLst/>
          </a:prstGeom>
          <a:noFill/>
          <a:ln/>
        </p:spPr>
        <p:txBody>
          <a:bodyPr wrap="none" lIns="0" tIns="0" rIns="0" bIns="0" rtlCol="0" anchor="t">
            <a:spAutoFit/>
          </a:bodyPr>
          <a:lstStyle/>
          <a:p>
            <a:pPr marL="0" indent="0" algn="l">
              <a:buNone/>
            </a:pPr>
            <a:r>
              <a:rPr lang="en-US" sz="1000" b="1" kern="0" spc="1" dirty="0">
                <a:solidFill>
                  <a:srgbClr val="000000"/>
                </a:solidFill>
                <a:latin typeface="Inter Bold" pitchFamily="34" charset="0"/>
                <a:ea typeface="Inter Bold" pitchFamily="34" charset="-122"/>
                <a:cs typeface="Inter Bold" pitchFamily="34" charset="-120"/>
              </a:rPr>
              <a:t>R²</a:t>
            </a:r>
            <a:endParaRPr lang="en-US" sz="1000" dirty="0"/>
          </a:p>
        </p:txBody>
      </p:sp>
      <p:sp>
        <p:nvSpPr>
          <p:cNvPr id="11" name="Text 8"/>
          <p:cNvSpPr/>
          <p:nvPr/>
        </p:nvSpPr>
        <p:spPr>
          <a:xfrm>
            <a:off x="7537540" y="855625"/>
            <a:ext cx="321114" cy="153888"/>
          </a:xfrm>
          <a:prstGeom prst="rect">
            <a:avLst/>
          </a:prstGeom>
          <a:noFill/>
          <a:ln/>
        </p:spPr>
        <p:txBody>
          <a:bodyPr wrap="none" lIns="0" tIns="0" rIns="0" bIns="0" rtlCol="0" anchor="t">
            <a:spAutoFit/>
          </a:bodyPr>
          <a:lstStyle/>
          <a:p>
            <a:pPr marL="0" indent="0" algn="l">
              <a:buNone/>
            </a:pPr>
            <a:r>
              <a:rPr lang="en-US" sz="1000" b="1" kern="0" spc="1" dirty="0">
                <a:solidFill>
                  <a:srgbClr val="000000"/>
                </a:solidFill>
                <a:latin typeface="Inter Bold" pitchFamily="34" charset="0"/>
                <a:ea typeface="Inter Bold" pitchFamily="34" charset="-122"/>
                <a:cs typeface="Inter Bold" pitchFamily="34" charset="-120"/>
              </a:rPr>
              <a:t>MAPE</a:t>
            </a:r>
            <a:endParaRPr lang="en-US" sz="1000" dirty="0"/>
          </a:p>
        </p:txBody>
      </p:sp>
      <p:sp>
        <p:nvSpPr>
          <p:cNvPr id="13" name="Text 10"/>
          <p:cNvSpPr/>
          <p:nvPr/>
        </p:nvSpPr>
        <p:spPr>
          <a:xfrm>
            <a:off x="647700" y="1068632"/>
            <a:ext cx="2835232"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RNN Baseline</a:t>
            </a:r>
            <a:endParaRPr lang="en-US" sz="1000" dirty="0"/>
          </a:p>
        </p:txBody>
      </p:sp>
      <p:sp>
        <p:nvSpPr>
          <p:cNvPr id="14" name="Text 11"/>
          <p:cNvSpPr/>
          <p:nvPr/>
        </p:nvSpPr>
        <p:spPr>
          <a:xfrm>
            <a:off x="3482932" y="1068632"/>
            <a:ext cx="1357871"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215.46</a:t>
            </a:r>
            <a:endParaRPr lang="en-US" sz="1000" dirty="0"/>
          </a:p>
        </p:txBody>
      </p:sp>
      <p:sp>
        <p:nvSpPr>
          <p:cNvPr id="15" name="Text 12"/>
          <p:cNvSpPr/>
          <p:nvPr/>
        </p:nvSpPr>
        <p:spPr>
          <a:xfrm>
            <a:off x="4840802" y="1068632"/>
            <a:ext cx="618183" cy="497316"/>
          </a:xfrm>
          <a:prstGeom prst="rect">
            <a:avLst/>
          </a:prstGeom>
          <a:noFill/>
          <a:ln/>
        </p:spPr>
        <p:txBody>
          <a:bodyPr wrap="non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161.28</a:t>
            </a:r>
            <a:endParaRPr lang="en-US" sz="1000" dirty="0"/>
          </a:p>
        </p:txBody>
      </p:sp>
      <p:sp>
        <p:nvSpPr>
          <p:cNvPr id="16" name="Text 13"/>
          <p:cNvSpPr/>
          <p:nvPr/>
        </p:nvSpPr>
        <p:spPr>
          <a:xfrm>
            <a:off x="6101088" y="1068632"/>
            <a:ext cx="1329296"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0.9917</a:t>
            </a:r>
            <a:endParaRPr lang="en-US" sz="1000" dirty="0"/>
          </a:p>
        </p:txBody>
      </p:sp>
      <p:sp>
        <p:nvSpPr>
          <p:cNvPr id="17" name="Text 14"/>
          <p:cNvSpPr/>
          <p:nvPr/>
        </p:nvSpPr>
        <p:spPr>
          <a:xfrm>
            <a:off x="7430384" y="1068632"/>
            <a:ext cx="578107" cy="497316"/>
          </a:xfrm>
          <a:prstGeom prst="rect">
            <a:avLst/>
          </a:prstGeom>
          <a:noFill/>
          <a:ln/>
        </p:spPr>
        <p:txBody>
          <a:bodyPr wrap="non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1.44%</a:t>
            </a:r>
            <a:endParaRPr lang="en-US" sz="1000" dirty="0"/>
          </a:p>
        </p:txBody>
      </p:sp>
      <p:sp>
        <p:nvSpPr>
          <p:cNvPr id="18" name="Text 15"/>
          <p:cNvSpPr/>
          <p:nvPr/>
        </p:nvSpPr>
        <p:spPr>
          <a:xfrm>
            <a:off x="647700" y="1518688"/>
            <a:ext cx="2835232"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LSTM Baseline</a:t>
            </a:r>
            <a:endParaRPr lang="en-US" sz="1000" dirty="0"/>
          </a:p>
        </p:txBody>
      </p:sp>
      <p:sp>
        <p:nvSpPr>
          <p:cNvPr id="19" name="Text 16"/>
          <p:cNvSpPr/>
          <p:nvPr/>
        </p:nvSpPr>
        <p:spPr>
          <a:xfrm>
            <a:off x="3482932" y="1518688"/>
            <a:ext cx="1357871"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219.30</a:t>
            </a:r>
            <a:endParaRPr lang="en-US" sz="1000" dirty="0"/>
          </a:p>
        </p:txBody>
      </p:sp>
      <p:sp>
        <p:nvSpPr>
          <p:cNvPr id="20" name="Text 17"/>
          <p:cNvSpPr/>
          <p:nvPr/>
        </p:nvSpPr>
        <p:spPr>
          <a:xfrm>
            <a:off x="4840802" y="1518688"/>
            <a:ext cx="618183" cy="497316"/>
          </a:xfrm>
          <a:prstGeom prst="rect">
            <a:avLst/>
          </a:prstGeom>
          <a:noFill/>
          <a:ln/>
        </p:spPr>
        <p:txBody>
          <a:bodyPr wrap="non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163.02</a:t>
            </a:r>
            <a:endParaRPr lang="en-US" sz="1000" dirty="0"/>
          </a:p>
        </p:txBody>
      </p:sp>
      <p:sp>
        <p:nvSpPr>
          <p:cNvPr id="21" name="Text 18"/>
          <p:cNvSpPr/>
          <p:nvPr/>
        </p:nvSpPr>
        <p:spPr>
          <a:xfrm>
            <a:off x="6101088" y="1518688"/>
            <a:ext cx="1329296"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0.9915</a:t>
            </a:r>
            <a:endParaRPr lang="en-US" sz="1000" dirty="0"/>
          </a:p>
        </p:txBody>
      </p:sp>
      <p:sp>
        <p:nvSpPr>
          <p:cNvPr id="22" name="Text 19"/>
          <p:cNvSpPr/>
          <p:nvPr/>
        </p:nvSpPr>
        <p:spPr>
          <a:xfrm>
            <a:off x="7430384" y="1518688"/>
            <a:ext cx="578107" cy="497316"/>
          </a:xfrm>
          <a:prstGeom prst="rect">
            <a:avLst/>
          </a:prstGeom>
          <a:noFill/>
          <a:ln/>
        </p:spPr>
        <p:txBody>
          <a:bodyPr wrap="non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1.44%</a:t>
            </a:r>
            <a:endParaRPr lang="en-US" sz="1000" dirty="0"/>
          </a:p>
        </p:txBody>
      </p:sp>
      <p:sp>
        <p:nvSpPr>
          <p:cNvPr id="23" name="Text 20"/>
          <p:cNvSpPr/>
          <p:nvPr/>
        </p:nvSpPr>
        <p:spPr>
          <a:xfrm>
            <a:off x="647700" y="1966958"/>
            <a:ext cx="2835232"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RNN + Cyclical Features</a:t>
            </a:r>
            <a:endParaRPr lang="en-US" sz="1000" dirty="0"/>
          </a:p>
        </p:txBody>
      </p:sp>
      <p:sp>
        <p:nvSpPr>
          <p:cNvPr id="24" name="Text 21"/>
          <p:cNvSpPr/>
          <p:nvPr/>
        </p:nvSpPr>
        <p:spPr>
          <a:xfrm>
            <a:off x="3482932" y="1966958"/>
            <a:ext cx="1357871"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204.17</a:t>
            </a:r>
            <a:endParaRPr lang="en-US" sz="1000" dirty="0"/>
          </a:p>
        </p:txBody>
      </p:sp>
      <p:sp>
        <p:nvSpPr>
          <p:cNvPr id="25" name="Text 22"/>
          <p:cNvSpPr/>
          <p:nvPr/>
        </p:nvSpPr>
        <p:spPr>
          <a:xfrm>
            <a:off x="4840802" y="1966958"/>
            <a:ext cx="618183" cy="497316"/>
          </a:xfrm>
          <a:prstGeom prst="rect">
            <a:avLst/>
          </a:prstGeom>
          <a:noFill/>
          <a:ln/>
        </p:spPr>
        <p:txBody>
          <a:bodyPr wrap="non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153.17</a:t>
            </a:r>
            <a:endParaRPr lang="en-US" sz="1000" dirty="0"/>
          </a:p>
        </p:txBody>
      </p:sp>
      <p:sp>
        <p:nvSpPr>
          <p:cNvPr id="26" name="Text 23"/>
          <p:cNvSpPr/>
          <p:nvPr/>
        </p:nvSpPr>
        <p:spPr>
          <a:xfrm>
            <a:off x="6101088" y="1966958"/>
            <a:ext cx="1329296" cy="497316"/>
          </a:xfrm>
          <a:prstGeom prst="rect">
            <a:avLst/>
          </a:prstGeom>
          <a:noFill/>
          <a:ln/>
        </p:spPr>
        <p:txBody>
          <a:bodyPr wrap="squar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0.9926</a:t>
            </a:r>
            <a:endParaRPr lang="en-US" sz="1000" dirty="0"/>
          </a:p>
        </p:txBody>
      </p:sp>
      <p:sp>
        <p:nvSpPr>
          <p:cNvPr id="27" name="Text 24"/>
          <p:cNvSpPr/>
          <p:nvPr/>
        </p:nvSpPr>
        <p:spPr>
          <a:xfrm>
            <a:off x="7430384" y="1966958"/>
            <a:ext cx="578107" cy="497316"/>
          </a:xfrm>
          <a:prstGeom prst="rect">
            <a:avLst/>
          </a:prstGeom>
          <a:noFill/>
          <a:ln/>
        </p:spPr>
        <p:txBody>
          <a:bodyPr wrap="none" lIns="127508" tIns="170053" rIns="127508" bIns="170053" rtlCol="0" anchor="ctr">
            <a:spAutoFit/>
          </a:bodyPr>
          <a:lstStyle/>
          <a:p>
            <a:pPr marL="0" indent="0" algn="l">
              <a:buNone/>
            </a:pPr>
            <a:r>
              <a:rPr lang="en-US" sz="1000" dirty="0">
                <a:solidFill>
                  <a:srgbClr val="333333"/>
                </a:solidFill>
                <a:latin typeface="Inter" pitchFamily="34" charset="0"/>
                <a:ea typeface="Inter" pitchFamily="34" charset="-122"/>
                <a:cs typeface="Inter" pitchFamily="34" charset="-120"/>
              </a:rPr>
              <a:t>1.37%</a:t>
            </a:r>
            <a:endParaRPr lang="en-US" sz="1000" dirty="0"/>
          </a:p>
        </p:txBody>
      </p:sp>
      <p:sp>
        <p:nvSpPr>
          <p:cNvPr id="28" name="Shape 25"/>
          <p:cNvSpPr/>
          <p:nvPr/>
        </p:nvSpPr>
        <p:spPr>
          <a:xfrm>
            <a:off x="571500" y="2410764"/>
            <a:ext cx="8001000" cy="448270"/>
          </a:xfrm>
          <a:prstGeom prst="rect">
            <a:avLst/>
          </a:prstGeom>
          <a:solidFill>
            <a:srgbClr val="0055FF">
              <a:alpha val="5000"/>
            </a:srgbClr>
          </a:solidFill>
          <a:ln/>
        </p:spPr>
        <p:txBody>
          <a:bodyPr/>
          <a:lstStyle/>
          <a:p>
            <a:endParaRPr lang="en-US" sz="1000"/>
          </a:p>
        </p:txBody>
      </p:sp>
      <p:sp>
        <p:nvSpPr>
          <p:cNvPr id="29" name="Text 26"/>
          <p:cNvSpPr/>
          <p:nvPr/>
        </p:nvSpPr>
        <p:spPr>
          <a:xfrm>
            <a:off x="647700" y="2415229"/>
            <a:ext cx="2835232" cy="497316"/>
          </a:xfrm>
          <a:prstGeom prst="rect">
            <a:avLst/>
          </a:prstGeom>
          <a:noFill/>
          <a:ln/>
        </p:spPr>
        <p:txBody>
          <a:bodyPr wrap="square" lIns="127508" tIns="170053" rIns="127508" bIns="170053"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LSTM + Cyclical Features</a:t>
            </a:r>
            <a:endParaRPr lang="en-US" sz="1000" dirty="0"/>
          </a:p>
        </p:txBody>
      </p:sp>
      <p:sp>
        <p:nvSpPr>
          <p:cNvPr id="30" name="Text 27"/>
          <p:cNvSpPr/>
          <p:nvPr/>
        </p:nvSpPr>
        <p:spPr>
          <a:xfrm>
            <a:off x="3482932" y="2415229"/>
            <a:ext cx="1357871" cy="497316"/>
          </a:xfrm>
          <a:prstGeom prst="rect">
            <a:avLst/>
          </a:prstGeom>
          <a:noFill/>
          <a:ln/>
        </p:spPr>
        <p:txBody>
          <a:bodyPr wrap="square" lIns="127508" tIns="170053" rIns="127508" bIns="170053"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160.86</a:t>
            </a:r>
            <a:endParaRPr lang="en-US" sz="1000" dirty="0"/>
          </a:p>
        </p:txBody>
      </p:sp>
      <p:sp>
        <p:nvSpPr>
          <p:cNvPr id="31" name="Text 28"/>
          <p:cNvSpPr/>
          <p:nvPr/>
        </p:nvSpPr>
        <p:spPr>
          <a:xfrm>
            <a:off x="4840802" y="2415229"/>
            <a:ext cx="619785" cy="497316"/>
          </a:xfrm>
          <a:prstGeom prst="rect">
            <a:avLst/>
          </a:prstGeom>
          <a:noFill/>
          <a:ln/>
        </p:spPr>
        <p:txBody>
          <a:bodyPr wrap="none" lIns="127508" tIns="170053" rIns="127508" bIns="170053"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118.90</a:t>
            </a:r>
            <a:endParaRPr lang="en-US" sz="1000" dirty="0"/>
          </a:p>
        </p:txBody>
      </p:sp>
      <p:sp>
        <p:nvSpPr>
          <p:cNvPr id="32" name="Text 29"/>
          <p:cNvSpPr/>
          <p:nvPr/>
        </p:nvSpPr>
        <p:spPr>
          <a:xfrm>
            <a:off x="6101088" y="2415229"/>
            <a:ext cx="1329296" cy="497316"/>
          </a:xfrm>
          <a:prstGeom prst="rect">
            <a:avLst/>
          </a:prstGeom>
          <a:noFill/>
          <a:ln/>
        </p:spPr>
        <p:txBody>
          <a:bodyPr wrap="square" lIns="127508" tIns="170053" rIns="127508" bIns="170053"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0.9954</a:t>
            </a:r>
            <a:endParaRPr lang="en-US" sz="1000" dirty="0"/>
          </a:p>
        </p:txBody>
      </p:sp>
      <p:sp>
        <p:nvSpPr>
          <p:cNvPr id="33" name="Text 30"/>
          <p:cNvSpPr/>
          <p:nvPr/>
        </p:nvSpPr>
        <p:spPr>
          <a:xfrm>
            <a:off x="7430384" y="2415229"/>
            <a:ext cx="581313" cy="497316"/>
          </a:xfrm>
          <a:prstGeom prst="rect">
            <a:avLst/>
          </a:prstGeom>
          <a:noFill/>
          <a:ln/>
        </p:spPr>
        <p:txBody>
          <a:bodyPr wrap="none" lIns="127508" tIns="170053" rIns="127508" bIns="170053" rtlCol="0" anchor="ctr">
            <a:spAutoFit/>
          </a:bodyPr>
          <a:lstStyle/>
          <a:p>
            <a:pPr marL="0" indent="0" algn="l">
              <a:buNone/>
            </a:pPr>
            <a:r>
              <a:rPr lang="en-US" sz="1000" b="1" dirty="0">
                <a:solidFill>
                  <a:srgbClr val="0055FF"/>
                </a:solidFill>
                <a:latin typeface="Inter Bold" pitchFamily="34" charset="0"/>
                <a:ea typeface="Inter Bold" pitchFamily="34" charset="-122"/>
                <a:cs typeface="Inter Bold" pitchFamily="34" charset="-120"/>
              </a:rPr>
              <a:t>1.07%</a:t>
            </a:r>
            <a:endParaRPr lang="en-US" sz="1000" dirty="0"/>
          </a:p>
        </p:txBody>
      </p:sp>
      <p:pic>
        <p:nvPicPr>
          <p:cNvPr id="42" name="Picture 41">
            <a:extLst>
              <a:ext uri="{FF2B5EF4-FFF2-40B4-BE49-F238E27FC236}">
                <a16:creationId xmlns:a16="http://schemas.microsoft.com/office/drawing/2014/main" id="{7DE162A8-99D0-E501-9AF5-4CF670C97AA9}"/>
              </a:ext>
            </a:extLst>
          </p:cNvPr>
          <p:cNvPicPr>
            <a:picLocks noChangeAspect="1"/>
          </p:cNvPicPr>
          <p:nvPr/>
        </p:nvPicPr>
        <p:blipFill>
          <a:blip r:embed="rId3"/>
          <a:stretch>
            <a:fillRect/>
          </a:stretch>
        </p:blipFill>
        <p:spPr>
          <a:xfrm>
            <a:off x="828337" y="2917010"/>
            <a:ext cx="7030317" cy="20258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nvSpPr>
        <p:spPr>
          <a:xfrm>
            <a:off x="571500" y="529475"/>
            <a:ext cx="8572500" cy="27699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Key Findings</a:t>
            </a:r>
            <a:endParaRPr lang="en-US" sz="1800" dirty="0"/>
          </a:p>
        </p:txBody>
      </p:sp>
      <p:sp>
        <p:nvSpPr>
          <p:cNvPr id="4" name="Text 1"/>
          <p:cNvSpPr/>
          <p:nvPr/>
        </p:nvSpPr>
        <p:spPr>
          <a:xfrm>
            <a:off x="571499" y="1043555"/>
            <a:ext cx="7800975" cy="2154436"/>
          </a:xfrm>
          <a:prstGeom prst="rect">
            <a:avLst/>
          </a:prstGeom>
          <a:noFill/>
          <a:ln/>
        </p:spPr>
        <p:txBody>
          <a:bodyPr wrap="square" lIns="0" tIns="0" rIns="0" bIns="0" rtlCol="0" anchor="t">
            <a:spAutoFit/>
          </a:bodyPr>
          <a:lstStyle/>
          <a:p>
            <a:pPr marL="0" indent="0" algn="l">
              <a:buNone/>
            </a:pPr>
            <a:r>
              <a:rPr lang="en-US" sz="1000" b="1" kern="0" spc="1" dirty="0">
                <a:solidFill>
                  <a:srgbClr val="0055FF"/>
                </a:solidFill>
                <a:latin typeface="Inter Bold" pitchFamily="34" charset="0"/>
                <a:ea typeface="Inter Bold" pitchFamily="34" charset="-122"/>
                <a:cs typeface="Inter Bold" pitchFamily="34" charset="-120"/>
              </a:rPr>
              <a:t>LSTM wins</a:t>
            </a:r>
          </a:p>
          <a:p>
            <a:r>
              <a:rPr lang="en-US" sz="1000" dirty="0">
                <a:solidFill>
                  <a:srgbClr val="333333"/>
                </a:solidFill>
                <a:latin typeface="Inter" pitchFamily="34" charset="0"/>
                <a:ea typeface="Inter" pitchFamily="34" charset="-122"/>
                <a:cs typeface="Inter" pitchFamily="34" charset="-120"/>
              </a:rPr>
              <a:t>The </a:t>
            </a:r>
            <a:r>
              <a:rPr lang="en-US" sz="1000" b="1" dirty="0">
                <a:solidFill>
                  <a:srgbClr val="000000"/>
                </a:solidFill>
                <a:latin typeface="Inter Bold" pitchFamily="34" charset="0"/>
                <a:ea typeface="Inter Bold" pitchFamily="34" charset="-122"/>
                <a:cs typeface="Inter Bold" pitchFamily="34" charset="-120"/>
              </a:rPr>
              <a:t>LSTM with cyclical time features</a:t>
            </a:r>
            <a:r>
              <a:rPr lang="en-US" sz="1000" dirty="0">
                <a:solidFill>
                  <a:srgbClr val="333333"/>
                </a:solidFill>
                <a:latin typeface="Inter" pitchFamily="34" charset="0"/>
                <a:ea typeface="Inter" pitchFamily="34" charset="-122"/>
                <a:cs typeface="Inter" pitchFamily="34" charset="-120"/>
              </a:rPr>
              <a:t> is the clear winner.</a:t>
            </a:r>
          </a:p>
          <a:p>
            <a:r>
              <a:rPr lang="en-US" sz="1000" dirty="0">
                <a:solidFill>
                  <a:srgbClr val="333333"/>
                </a:solidFill>
                <a:latin typeface="Inter" pitchFamily="34" charset="0"/>
                <a:ea typeface="Inter" pitchFamily="34" charset="-122"/>
                <a:cs typeface="Inter" pitchFamily="34" charset="-120"/>
              </a:rPr>
              <a:t>However, theoretically the LSTM base should outperform than RNN, but it turns not oppositely. The reason is LSTM needs more epochs to converge than RNN because it has 4x more parameters where 30 epochs might not enough.</a:t>
            </a:r>
          </a:p>
          <a:p>
            <a:endParaRPr lang="en-US" sz="1000" dirty="0">
              <a:solidFill>
                <a:srgbClr val="333333"/>
              </a:solidFill>
              <a:latin typeface="Inter" pitchFamily="34" charset="0"/>
              <a:ea typeface="Inter" pitchFamily="34" charset="-122"/>
              <a:cs typeface="Inter" pitchFamily="34" charset="-120"/>
            </a:endParaRPr>
          </a:p>
          <a:p>
            <a:r>
              <a:rPr lang="en-US" sz="1000" b="1" kern="0" spc="1" dirty="0">
                <a:solidFill>
                  <a:srgbClr val="0055FF"/>
                </a:solidFill>
                <a:latin typeface="Inter Bold" pitchFamily="34" charset="0"/>
                <a:ea typeface="Inter Bold" pitchFamily="34" charset="-122"/>
                <a:cs typeface="Inter Bold" pitchFamily="34" charset="-120"/>
              </a:rPr>
              <a:t>FEATURE IMPACT</a:t>
            </a:r>
            <a:endParaRPr lang="en-US" sz="1000" dirty="0"/>
          </a:p>
          <a:p>
            <a:r>
              <a:rPr lang="en-US" sz="1000" b="1" dirty="0">
                <a:solidFill>
                  <a:srgbClr val="000000"/>
                </a:solidFill>
                <a:latin typeface="Inter Bold" pitchFamily="34" charset="0"/>
                <a:ea typeface="Inter Bold" pitchFamily="34" charset="-122"/>
                <a:cs typeface="Inter Bold" pitchFamily="34" charset="-120"/>
              </a:rPr>
              <a:t>Temporal encoding</a:t>
            </a:r>
            <a:r>
              <a:rPr lang="en-US" sz="1000" dirty="0">
                <a:solidFill>
                  <a:srgbClr val="333333"/>
                </a:solidFill>
                <a:latin typeface="Inter" pitchFamily="34" charset="0"/>
                <a:ea typeface="Inter" pitchFamily="34" charset="-122"/>
                <a:cs typeface="Inter" pitchFamily="34" charset="-120"/>
              </a:rPr>
              <a:t> (sin/cos) significantly reduces forecast error by providing the model with periodic context.</a:t>
            </a:r>
            <a:endParaRPr lang="en-US" sz="1000" dirty="0"/>
          </a:p>
          <a:p>
            <a:endParaRPr lang="en-US" sz="1000" dirty="0">
              <a:solidFill>
                <a:srgbClr val="333333"/>
              </a:solidFill>
              <a:latin typeface="Inter" pitchFamily="34" charset="0"/>
              <a:ea typeface="Inter" pitchFamily="34" charset="-122"/>
              <a:cs typeface="Inter" pitchFamily="34" charset="-120"/>
            </a:endParaRPr>
          </a:p>
          <a:p>
            <a:r>
              <a:rPr lang="en-US" sz="1000" b="1" kern="0" spc="1" dirty="0">
                <a:solidFill>
                  <a:srgbClr val="0055FF"/>
                </a:solidFill>
                <a:latin typeface="Inter Bold" pitchFamily="34" charset="0"/>
                <a:ea typeface="Inter Bold" pitchFamily="34" charset="-122"/>
                <a:cs typeface="Inter Bold" pitchFamily="34" charset="-120"/>
              </a:rPr>
              <a:t>DATA QUALITY</a:t>
            </a:r>
          </a:p>
          <a:p>
            <a:r>
              <a:rPr lang="en-US" sz="1000" dirty="0">
                <a:solidFill>
                  <a:srgbClr val="333333"/>
                </a:solidFill>
                <a:latin typeface="Inter" pitchFamily="34" charset="0"/>
                <a:ea typeface="Inter" pitchFamily="34" charset="-122"/>
                <a:cs typeface="Inter" pitchFamily="34" charset="-120"/>
              </a:rPr>
              <a:t>Rigorous </a:t>
            </a:r>
            <a:r>
              <a:rPr lang="en-US" sz="1000" b="1" dirty="0">
                <a:solidFill>
                  <a:srgbClr val="000000"/>
                </a:solidFill>
                <a:latin typeface="Inter Bold" pitchFamily="34" charset="0"/>
                <a:ea typeface="Inter Bold" pitchFamily="34" charset="-122"/>
                <a:cs typeface="Inter Bold" pitchFamily="34" charset="-120"/>
              </a:rPr>
              <a:t>outlier cleaning</a:t>
            </a:r>
            <a:r>
              <a:rPr lang="en-US" sz="1000" dirty="0">
                <a:solidFill>
                  <a:srgbClr val="333333"/>
                </a:solidFill>
                <a:latin typeface="Inter" pitchFamily="34" charset="0"/>
                <a:ea typeface="Inter" pitchFamily="34" charset="-122"/>
                <a:cs typeface="Inter" pitchFamily="34" charset="-120"/>
              </a:rPr>
              <a:t> and chronological splitting were essential for stable training and realistic evaluation.</a:t>
            </a:r>
            <a:endParaRPr lang="en-US" sz="1000" dirty="0"/>
          </a:p>
          <a:p>
            <a:endParaRPr lang="en-US" sz="1000" dirty="0"/>
          </a:p>
          <a:p>
            <a:endParaRPr lang="en-US" sz="1000" dirty="0">
              <a:solidFill>
                <a:srgbClr val="333333"/>
              </a:solidFill>
              <a:latin typeface="Inter" pitchFamily="34" charset="0"/>
              <a:ea typeface="Inter" pitchFamily="34" charset="-122"/>
            </a:endParaRPr>
          </a:p>
          <a:p>
            <a:endParaRPr lang="en-US" sz="1000" dirty="0"/>
          </a:p>
          <a:p>
            <a:pPr marL="0" indent="0" algn="l">
              <a:buNone/>
            </a:pPr>
            <a:endParaRPr lang="en-US" sz="1000" dirty="0"/>
          </a:p>
        </p:txBody>
      </p:sp>
      <p:sp>
        <p:nvSpPr>
          <p:cNvPr id="5" name="Text 2"/>
          <p:cNvSpPr/>
          <p:nvPr/>
        </p:nvSpPr>
        <p:spPr>
          <a:xfrm>
            <a:off x="571500" y="1811778"/>
            <a:ext cx="2428875" cy="155107"/>
          </a:xfrm>
          <a:prstGeom prst="rect">
            <a:avLst/>
          </a:prstGeom>
          <a:noFill/>
          <a:ln/>
        </p:spPr>
        <p:txBody>
          <a:bodyPr wrap="square" lIns="0" tIns="0" rIns="0" bIns="0" rtlCol="0" anchor="t">
            <a:spAutoFit/>
          </a:bodyPr>
          <a:lstStyle/>
          <a:p>
            <a:pPr marL="0" indent="0" algn="l">
              <a:lnSpc>
                <a:spcPct val="120000"/>
              </a:lnSpc>
              <a:buNone/>
            </a:pPr>
            <a:endParaRPr lang="en-US" sz="900" dirty="0"/>
          </a:p>
        </p:txBody>
      </p:sp>
      <p:sp>
        <p:nvSpPr>
          <p:cNvPr id="6" name="Text 3"/>
          <p:cNvSpPr/>
          <p:nvPr/>
        </p:nvSpPr>
        <p:spPr>
          <a:xfrm>
            <a:off x="3357563" y="1534957"/>
            <a:ext cx="2428875" cy="138499"/>
          </a:xfrm>
          <a:prstGeom prst="rect">
            <a:avLst/>
          </a:prstGeom>
          <a:noFill/>
          <a:ln/>
        </p:spPr>
        <p:txBody>
          <a:bodyPr wrap="square" lIns="0" tIns="0" rIns="0" bIns="0" rtlCol="0" anchor="t">
            <a:spAutoFit/>
          </a:bodyPr>
          <a:lstStyle/>
          <a:p>
            <a:pPr marL="0" indent="0" algn="l">
              <a:buNone/>
            </a:pPr>
            <a:endParaRPr lang="en-US" sz="900" dirty="0"/>
          </a:p>
        </p:txBody>
      </p:sp>
      <p:sp>
        <p:nvSpPr>
          <p:cNvPr id="7" name="Text 4"/>
          <p:cNvSpPr/>
          <p:nvPr/>
        </p:nvSpPr>
        <p:spPr>
          <a:xfrm>
            <a:off x="3357563" y="1811778"/>
            <a:ext cx="2428875" cy="155107"/>
          </a:xfrm>
          <a:prstGeom prst="rect">
            <a:avLst/>
          </a:prstGeom>
          <a:noFill/>
          <a:ln/>
        </p:spPr>
        <p:txBody>
          <a:bodyPr wrap="square" lIns="0" tIns="0" rIns="0" bIns="0" rtlCol="0" anchor="t">
            <a:spAutoFit/>
          </a:bodyPr>
          <a:lstStyle/>
          <a:p>
            <a:pPr marL="0" indent="0" algn="l">
              <a:lnSpc>
                <a:spcPct val="120000"/>
              </a:lnSpc>
              <a:buNone/>
            </a:pPr>
            <a:endParaRPr lang="en-US" sz="900" dirty="0"/>
          </a:p>
        </p:txBody>
      </p:sp>
      <p:sp>
        <p:nvSpPr>
          <p:cNvPr id="8" name="Text 5"/>
          <p:cNvSpPr/>
          <p:nvPr/>
        </p:nvSpPr>
        <p:spPr>
          <a:xfrm>
            <a:off x="6143625" y="1534957"/>
            <a:ext cx="2428875" cy="138499"/>
          </a:xfrm>
          <a:prstGeom prst="rect">
            <a:avLst/>
          </a:prstGeom>
          <a:noFill/>
          <a:ln/>
        </p:spPr>
        <p:txBody>
          <a:bodyPr wrap="square" lIns="0" tIns="0" rIns="0" bIns="0" rtlCol="0" anchor="t">
            <a:spAutoFit/>
          </a:bodyPr>
          <a:lstStyle/>
          <a:p>
            <a:pPr marL="0" indent="0" algn="l">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C949132-5584-1655-DC22-C517AC3A8FB5}"/>
              </a:ext>
            </a:extLst>
          </p:cNvPr>
          <p:cNvSpPr/>
          <p:nvPr/>
        </p:nvSpPr>
        <p:spPr>
          <a:xfrm>
            <a:off x="571500" y="453275"/>
            <a:ext cx="8572500" cy="276999"/>
          </a:xfrm>
          <a:prstGeom prst="rect">
            <a:avLst/>
          </a:prstGeom>
          <a:noFill/>
          <a:ln/>
        </p:spPr>
        <p:txBody>
          <a:bodyPr wrap="square" lIns="0" tIns="0" rIns="0" bIns="0" rtlCol="0" anchor="t">
            <a:spAutoFit/>
          </a:bodyPr>
          <a:lstStyle/>
          <a:p>
            <a:pPr marL="0" indent="0" algn="l">
              <a:buNone/>
            </a:pPr>
            <a:r>
              <a:rPr lang="en-US" sz="1800" b="1" dirty="0">
                <a:solidFill>
                  <a:srgbClr val="000000"/>
                </a:solidFill>
                <a:latin typeface="Inter Bold" pitchFamily="34" charset="0"/>
                <a:ea typeface="Inter Bold" pitchFamily="34" charset="-122"/>
                <a:cs typeface="Inter Bold" pitchFamily="34" charset="-120"/>
              </a:rPr>
              <a:t>Links and Reference</a:t>
            </a:r>
            <a:endParaRPr lang="en-US" sz="1800" dirty="0"/>
          </a:p>
        </p:txBody>
      </p:sp>
      <p:sp>
        <p:nvSpPr>
          <p:cNvPr id="4" name="TextBox 3">
            <a:extLst>
              <a:ext uri="{FF2B5EF4-FFF2-40B4-BE49-F238E27FC236}">
                <a16:creationId xmlns:a16="http://schemas.microsoft.com/office/drawing/2014/main" id="{FAC0C407-5E61-6A95-3BBD-A9BD92343EFB}"/>
              </a:ext>
            </a:extLst>
          </p:cNvPr>
          <p:cNvSpPr txBox="1"/>
          <p:nvPr/>
        </p:nvSpPr>
        <p:spPr>
          <a:xfrm>
            <a:off x="571500" y="801324"/>
            <a:ext cx="8181975" cy="2415277"/>
          </a:xfrm>
          <a:prstGeom prst="rect">
            <a:avLst/>
          </a:prstGeom>
          <a:noFill/>
        </p:spPr>
        <p:txBody>
          <a:bodyPr wrap="square">
            <a:spAutoFit/>
          </a:bodyPr>
          <a:lstStyle/>
          <a:p>
            <a:pPr>
              <a:lnSpc>
                <a:spcPts val="1350"/>
              </a:lnSpc>
            </a:pPr>
            <a:r>
              <a:rPr lang="en-US" sz="1000" b="1" kern="0" spc="1" dirty="0">
                <a:solidFill>
                  <a:srgbClr val="0055FF"/>
                </a:solidFill>
                <a:latin typeface="Inter Bold" pitchFamily="34" charset="0"/>
                <a:ea typeface="Inter Bold" pitchFamily="34" charset="-122"/>
              </a:rPr>
              <a:t>Result</a:t>
            </a:r>
          </a:p>
          <a:p>
            <a:pPr marL="171450" indent="-171450">
              <a:lnSpc>
                <a:spcPts val="1350"/>
              </a:lnSpc>
              <a:buFontTx/>
              <a:buChar char="-"/>
            </a:pPr>
            <a:r>
              <a:rPr lang="en-US" sz="1000" dirty="0" err="1"/>
              <a:t>Github</a:t>
            </a:r>
            <a:r>
              <a:rPr lang="en-US" sz="1000" dirty="0"/>
              <a:t>: </a:t>
            </a:r>
            <a:r>
              <a:rPr lang="en-US" sz="1000" dirty="0">
                <a:hlinkClick r:id="rId3"/>
              </a:rPr>
              <a:t>https://github.com/ykkkw/ai-hw-sp-2026-nn/tree/main/MRP_energy_fcst</a:t>
            </a:r>
            <a:endParaRPr lang="en-US" sz="1000" dirty="0"/>
          </a:p>
          <a:p>
            <a:pPr marL="171450" indent="-171450">
              <a:lnSpc>
                <a:spcPts val="1350"/>
              </a:lnSpc>
              <a:buFontTx/>
              <a:buChar char="-"/>
            </a:pPr>
            <a:r>
              <a:rPr lang="en-US" sz="1000" dirty="0" err="1"/>
              <a:t>Youtube</a:t>
            </a:r>
            <a:r>
              <a:rPr lang="en-US" sz="1000" dirty="0"/>
              <a:t>: </a:t>
            </a:r>
            <a:r>
              <a:rPr lang="en-US" sz="1000" dirty="0">
                <a:hlinkClick r:id="rId4"/>
              </a:rPr>
              <a:t>https://www.youtube.com/watch?v=ttesidRzbk0</a:t>
            </a:r>
            <a:endParaRPr lang="en-US" sz="1000" b="1" kern="0" spc="1" dirty="0">
              <a:solidFill>
                <a:srgbClr val="0055FF"/>
              </a:solidFill>
              <a:latin typeface="Inter Bold" pitchFamily="34" charset="0"/>
              <a:ea typeface="Inter Bold" pitchFamily="34" charset="-122"/>
            </a:endParaRPr>
          </a:p>
          <a:p>
            <a:pPr>
              <a:lnSpc>
                <a:spcPts val="1350"/>
              </a:lnSpc>
            </a:pPr>
            <a:endParaRPr lang="en-US" sz="1000" b="1" kern="0" spc="1" dirty="0">
              <a:solidFill>
                <a:srgbClr val="0055FF"/>
              </a:solidFill>
              <a:latin typeface="Inter Bold" pitchFamily="34" charset="0"/>
              <a:ea typeface="Inter Bold" pitchFamily="34" charset="-122"/>
            </a:endParaRPr>
          </a:p>
          <a:p>
            <a:pPr>
              <a:lnSpc>
                <a:spcPts val="1350"/>
              </a:lnSpc>
            </a:pPr>
            <a:r>
              <a:rPr lang="en-US" sz="1000" b="1" kern="0" spc="1" dirty="0">
                <a:solidFill>
                  <a:srgbClr val="0055FF"/>
                </a:solidFill>
                <a:latin typeface="Inter Bold" pitchFamily="34" charset="0"/>
                <a:ea typeface="Inter Bold" pitchFamily="34" charset="-122"/>
              </a:rPr>
              <a:t>Reference</a:t>
            </a:r>
            <a:endParaRPr lang="en-US" sz="1000" dirty="0"/>
          </a:p>
          <a:p>
            <a:pPr marL="171450" indent="-171450">
              <a:lnSpc>
                <a:spcPts val="1350"/>
              </a:lnSpc>
              <a:buFontTx/>
              <a:buChar char="-"/>
            </a:pPr>
            <a:r>
              <a:rPr lang="en-US" sz="1000" dirty="0"/>
              <a:t>Kaggle data: </a:t>
            </a:r>
            <a:r>
              <a:rPr lang="en-US" sz="1000" dirty="0">
                <a:hlinkClick r:id="rId5"/>
              </a:rPr>
              <a:t>https://www.kaggle.com/datasets/robikscube/hourly-energy-consumption/data?select=DOM_hourly.csv</a:t>
            </a:r>
            <a:endParaRPr lang="en-US" sz="1000" b="0" dirty="0">
              <a:effectLst/>
            </a:endParaRPr>
          </a:p>
          <a:p>
            <a:pPr marL="171450" indent="-171450">
              <a:lnSpc>
                <a:spcPts val="1350"/>
              </a:lnSpc>
              <a:buFontTx/>
              <a:buChar char="-"/>
            </a:pPr>
            <a:r>
              <a:rPr lang="en-US" sz="1000" b="0" dirty="0">
                <a:effectLst/>
              </a:rPr>
              <a:t>Cyclical feature encoding: </a:t>
            </a:r>
            <a:r>
              <a:rPr lang="en-US" sz="1000" dirty="0">
                <a:hlinkClick r:id="rId6"/>
              </a:rPr>
              <a:t>https://www.kaggle.com/code/avanwyk/encoding-cyclical-features-for-deep-learning</a:t>
            </a:r>
            <a:endParaRPr lang="en-US" sz="1000" dirty="0"/>
          </a:p>
          <a:p>
            <a:pPr marL="171450" indent="-171450">
              <a:lnSpc>
                <a:spcPts val="1350"/>
              </a:lnSpc>
              <a:buFontTx/>
              <a:buChar char="-"/>
            </a:pPr>
            <a:r>
              <a:rPr lang="en-US" sz="1000" b="0" dirty="0" err="1">
                <a:effectLst/>
              </a:rPr>
              <a:t>PyTorch</a:t>
            </a:r>
            <a:r>
              <a:rPr lang="en-US" sz="1000" b="0" dirty="0">
                <a:effectLst/>
              </a:rPr>
              <a:t> RNN docs: </a:t>
            </a:r>
            <a:r>
              <a:rPr lang="en-US" sz="1000" b="0" dirty="0">
                <a:effectLst/>
                <a:hlinkClick r:id="rId7"/>
              </a:rPr>
              <a:t>https://pytorch.org/docs/stable/generated/torch.nn.RNN.html</a:t>
            </a:r>
            <a:endParaRPr lang="en-US" sz="1000" dirty="0"/>
          </a:p>
          <a:p>
            <a:pPr marL="171450" indent="-171450">
              <a:lnSpc>
                <a:spcPts val="1350"/>
              </a:lnSpc>
              <a:buFontTx/>
              <a:buChar char="-"/>
            </a:pPr>
            <a:r>
              <a:rPr lang="en-US" sz="1000" b="0" dirty="0" err="1">
                <a:effectLst/>
              </a:rPr>
              <a:t>PyTorch</a:t>
            </a:r>
            <a:r>
              <a:rPr lang="en-US" sz="1000" b="0" dirty="0">
                <a:effectLst/>
              </a:rPr>
              <a:t> LSTM docs: </a:t>
            </a:r>
            <a:r>
              <a:rPr lang="en-US" sz="1000" b="0" dirty="0">
                <a:effectLst/>
                <a:hlinkClick r:id="rId8"/>
              </a:rPr>
              <a:t>https://pytorch.org/docs/stable/generated/torch.nn.LSTM.html</a:t>
            </a:r>
            <a:endParaRPr lang="en-US" sz="1000" dirty="0"/>
          </a:p>
          <a:p>
            <a:pPr marL="171450" indent="-171450">
              <a:lnSpc>
                <a:spcPts val="1350"/>
              </a:lnSpc>
              <a:buFontTx/>
              <a:buChar char="-"/>
            </a:pPr>
            <a:r>
              <a:rPr lang="en-US" sz="1000" b="0" dirty="0">
                <a:effectLst/>
              </a:rPr>
              <a:t>Sequence length discussion: </a:t>
            </a:r>
            <a:r>
              <a:rPr lang="en-US" sz="1000" b="0" dirty="0">
                <a:effectLst/>
                <a:hlinkClick r:id="rId9"/>
              </a:rPr>
              <a:t>https://stackoverflow.com/questions/49573242/what-is-sequence-length-in-lstm</a:t>
            </a:r>
            <a:endParaRPr lang="en-US" sz="1000" dirty="0"/>
          </a:p>
          <a:p>
            <a:pPr marL="171450" indent="-171450">
              <a:lnSpc>
                <a:spcPts val="1350"/>
              </a:lnSpc>
              <a:buFontTx/>
              <a:buChar char="-"/>
            </a:pPr>
            <a:r>
              <a:rPr lang="en-US" sz="1000" b="0" dirty="0" err="1">
                <a:effectLst/>
              </a:rPr>
              <a:t>MinMaxScaler</a:t>
            </a:r>
            <a:r>
              <a:rPr lang="en-US" sz="1000" b="0" dirty="0">
                <a:effectLst/>
              </a:rPr>
              <a:t>: </a:t>
            </a:r>
            <a:r>
              <a:rPr lang="en-US" sz="1000" b="0" dirty="0">
                <a:effectLst/>
                <a:hlinkClick r:id="rId10"/>
              </a:rPr>
              <a:t>https://scikit-learn.org/stable/modules/generated/sklearn.preprocessing.MinMaxScaler.html</a:t>
            </a:r>
            <a:endParaRPr lang="en-US" sz="1000" dirty="0"/>
          </a:p>
          <a:p>
            <a:pPr marL="171450" indent="-171450">
              <a:lnSpc>
                <a:spcPts val="1350"/>
              </a:lnSpc>
              <a:buFontTx/>
              <a:buChar char="-"/>
            </a:pPr>
            <a:r>
              <a:rPr lang="en-US" sz="1000" b="0" dirty="0">
                <a:effectLst/>
              </a:rPr>
              <a:t>R² score: </a:t>
            </a:r>
            <a:r>
              <a:rPr lang="en-US" sz="1000" b="0" dirty="0">
                <a:effectLst/>
                <a:hlinkClick r:id="rId11"/>
              </a:rPr>
              <a:t>https://scikit-learn.org/stable/modules/generated/sklearn.metrics.r2_score.html</a:t>
            </a:r>
            <a:endParaRPr lang="en-US" sz="1000" b="0" dirty="0">
              <a:effectLst/>
            </a:endParaRPr>
          </a:p>
          <a:p>
            <a:pPr marL="171450" indent="-171450">
              <a:lnSpc>
                <a:spcPts val="1350"/>
              </a:lnSpc>
              <a:buFontTx/>
              <a:buChar char="-"/>
            </a:pPr>
            <a:endParaRPr lang="en-US" sz="1000" b="0" dirty="0">
              <a:effectLst/>
            </a:endParaRPr>
          </a:p>
        </p:txBody>
      </p:sp>
    </p:spTree>
    <p:extLst>
      <p:ext uri="{BB962C8B-B14F-4D97-AF65-F5344CB8AC3E}">
        <p14:creationId xmlns:p14="http://schemas.microsoft.com/office/powerpoint/2010/main" val="1563401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973</Words>
  <Application>Microsoft Macintosh PowerPoint</Application>
  <PresentationFormat>On-screen Show (16:9)</PresentationFormat>
  <Paragraphs>173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Inter</vt:lpstr>
      <vt:lpstr>Inter Bold</vt:lpstr>
      <vt:lpstr>monospace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Yingkun Wang</cp:lastModifiedBy>
  <cp:revision>23</cp:revision>
  <dcterms:created xsi:type="dcterms:W3CDTF">2026-06-11T00:34:44Z</dcterms:created>
  <dcterms:modified xsi:type="dcterms:W3CDTF">2026-06-11T05:02:37Z</dcterms:modified>
</cp:coreProperties>
</file>